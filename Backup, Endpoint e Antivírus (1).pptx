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embeddedFontLst>
    <p:embeddedFont>
      <p:font typeface="Bodoni Moda"/>
      <p:regular r:id="rId17"/>
      <p:bold r:id="rId18"/>
      <p:italic r:id="rId19"/>
      <p:boldItalic r:id="rId20"/>
    </p:embeddedFont>
    <p:embeddedFont>
      <p:font typeface="Proxima Nova"/>
      <p:regular r:id="rId21"/>
      <p:bold r:id="rId22"/>
      <p:italic r:id="rId23"/>
      <p:boldItalic r:id="rId24"/>
    </p:embeddedFont>
    <p:embeddedFont>
      <p:font typeface="Noto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hWL430aA1ggF7VGqQHZRfSieNN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odoniModa-boldItalic.fntdata"/><Relationship Id="rId22" Type="http://schemas.openxmlformats.org/officeDocument/2006/relationships/font" Target="fonts/ProximaNova-bold.fntdata"/><Relationship Id="rId21" Type="http://schemas.openxmlformats.org/officeDocument/2006/relationships/font" Target="fonts/ProximaNova-regular.fntdata"/><Relationship Id="rId24" Type="http://schemas.openxmlformats.org/officeDocument/2006/relationships/font" Target="fonts/ProximaNova-boldItalic.fntdata"/><Relationship Id="rId23" Type="http://schemas.openxmlformats.org/officeDocument/2006/relationships/font" Target="fonts/ProximaNova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NotoSans-bold.fntdata"/><Relationship Id="rId25" Type="http://schemas.openxmlformats.org/officeDocument/2006/relationships/font" Target="fonts/NotoSans-regular.fntdata"/><Relationship Id="rId28" Type="http://schemas.openxmlformats.org/officeDocument/2006/relationships/font" Target="fonts/NotoSans-boldItalic.fntdata"/><Relationship Id="rId27" Type="http://schemas.openxmlformats.org/officeDocument/2006/relationships/font" Target="fonts/NotoSa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BodoniModa-regular.fntdata"/><Relationship Id="rId16" Type="http://schemas.openxmlformats.org/officeDocument/2006/relationships/slide" Target="slides/slide12.xml"/><Relationship Id="rId19" Type="http://schemas.openxmlformats.org/officeDocument/2006/relationships/font" Target="fonts/BodoniModa-italic.fntdata"/><Relationship Id="rId18" Type="http://schemas.openxmlformats.org/officeDocument/2006/relationships/font" Target="fonts/BodoniModa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" name="Google Shape;4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" name="Google Shape;8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6a31142b98fe4e42_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6a31142b98fe4e42_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g6a31142b98fe4e42_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6a31142b98fe4e42_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6a31142b98fe4e42_1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g6a31142b98fe4e42_1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81a17398f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381a17398f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g381a17398f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778908b853e21f4d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g778908b853e21f4d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g778908b853e21f4d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3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8.png"/><Relationship Id="rId5" Type="http://schemas.openxmlformats.org/officeDocument/2006/relationships/image" Target="../media/image15.png"/><Relationship Id="rId6" Type="http://schemas.openxmlformats.org/officeDocument/2006/relationships/image" Target="../media/image12.png"/><Relationship Id="rId7" Type="http://schemas.openxmlformats.org/officeDocument/2006/relationships/image" Target="../media/image7.png"/><Relationship Id="rId8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4.png"/><Relationship Id="rId6" Type="http://schemas.openxmlformats.org/officeDocument/2006/relationships/image" Target="../media/image9.png"/><Relationship Id="rId7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13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png"/><Relationship Id="rId4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9" Type="http://schemas.openxmlformats.org/officeDocument/2006/relationships/image" Target="../media/image35.png"/><Relationship Id="rId5" Type="http://schemas.openxmlformats.org/officeDocument/2006/relationships/image" Target="../media/image24.png"/><Relationship Id="rId6" Type="http://schemas.openxmlformats.org/officeDocument/2006/relationships/image" Target="../media/image23.png"/><Relationship Id="rId7" Type="http://schemas.openxmlformats.org/officeDocument/2006/relationships/image" Target="../media/image26.png"/><Relationship Id="rId8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png"/><Relationship Id="rId4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34.png"/><Relationship Id="rId7" Type="http://schemas.openxmlformats.org/officeDocument/2006/relationships/image" Target="../media/image3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8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571500" y="293025"/>
            <a:ext cx="4500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889F"/>
              </a:buClr>
              <a:buSzPts val="6750"/>
              <a:buFont typeface="Bodoni Moda"/>
              <a:buNone/>
            </a:pPr>
            <a:r>
              <a:rPr b="0" i="0" lang="en-US" sz="6000" u="none" cap="none" strike="noStrike">
                <a:solidFill>
                  <a:srgbClr val="58889F"/>
                </a:solidFill>
                <a:latin typeface="Bodoni Moda"/>
                <a:ea typeface="Bodoni Moda"/>
                <a:cs typeface="Bodoni Moda"/>
                <a:sym typeface="Bodoni Moda"/>
              </a:rPr>
              <a:t>DEFESA EM</a:t>
            </a:r>
            <a:endParaRPr b="0" i="0" sz="6000" u="none" cap="none" strike="noStrike">
              <a:solidFill>
                <a:srgbClr val="58889F"/>
              </a:solidFill>
              <a:latin typeface="Bodoni Moda"/>
              <a:ea typeface="Bodoni Moda"/>
              <a:cs typeface="Bodoni Moda"/>
              <a:sym typeface="Bodoni Mod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889F"/>
              </a:buClr>
              <a:buSzPts val="6750"/>
              <a:buFont typeface="Bodoni Moda"/>
              <a:buNone/>
            </a:pPr>
            <a:r>
              <a:rPr b="0" i="0" lang="en-US" sz="6000" u="none" cap="none" strike="noStrike">
                <a:solidFill>
                  <a:srgbClr val="58889F"/>
                </a:solidFill>
                <a:latin typeface="Bodoni Moda"/>
                <a:ea typeface="Bodoni Moda"/>
                <a:cs typeface="Bodoni Moda"/>
                <a:sym typeface="Bodoni Moda"/>
              </a:rPr>
              <a:t>CAMADAS</a:t>
            </a:r>
            <a:endParaRPr b="0" i="0" sz="6000" u="none" cap="none" strike="noStrike">
              <a:solidFill>
                <a:srgbClr val="58889F"/>
              </a:solidFill>
              <a:latin typeface="Bodoni Moda"/>
              <a:ea typeface="Bodoni Moda"/>
              <a:cs typeface="Bodoni Moda"/>
              <a:sym typeface="Bodoni Moda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71500" y="2614613"/>
            <a:ext cx="34863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B"/>
              </a:buClr>
              <a:buSzPts val="2025"/>
              <a:buFont typeface="Proxima Nova"/>
              <a:buNone/>
            </a:pPr>
            <a:r>
              <a:rPr b="0" i="0" lang="en-US" sz="2025" u="none" cap="none" strike="noStrike">
                <a:solidFill>
                  <a:srgbClr val="3A383B"/>
                </a:solidFill>
                <a:latin typeface="Proxima Nova"/>
                <a:ea typeface="Proxima Nova"/>
                <a:cs typeface="Proxima Nova"/>
                <a:sym typeface="Proxima Nova"/>
              </a:rPr>
              <a:t>Backup, Endpoint e Antivírus: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71500" y="3000375"/>
            <a:ext cx="41595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B"/>
              </a:buClr>
              <a:buSzPts val="2025"/>
              <a:buFont typeface="Proxima Nova"/>
              <a:buNone/>
            </a:pPr>
            <a:r>
              <a:rPr b="0" i="0" lang="en-US" sz="2025" u="none" cap="none" strike="noStrike">
                <a:solidFill>
                  <a:srgbClr val="3A383B"/>
                </a:solidFill>
                <a:latin typeface="Proxima Nova"/>
                <a:ea typeface="Proxima Nova"/>
                <a:cs typeface="Proxima Nova"/>
                <a:sym typeface="Proxima Nova"/>
              </a:rPr>
              <a:t>Fundamentos para a Segurança da 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71500" y="3386138"/>
            <a:ext cx="133052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B"/>
              </a:buClr>
              <a:buSzPts val="2025"/>
              <a:buFont typeface="Proxima Nova"/>
              <a:buNone/>
            </a:pPr>
            <a:r>
              <a:rPr b="0" i="0" lang="en-US" sz="2025" u="none" cap="none" strike="noStrike">
                <a:solidFill>
                  <a:srgbClr val="3A383B"/>
                </a:solidFill>
                <a:latin typeface="Proxima Nova"/>
                <a:ea typeface="Proxima Nova"/>
                <a:cs typeface="Proxima Nova"/>
                <a:sym typeface="Proxima Nova"/>
              </a:rPr>
              <a:t>Informação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" name="Google Shape;2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2125" y="1071563"/>
            <a:ext cx="28575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"/>
          <p:cNvSpPr/>
          <p:nvPr/>
        </p:nvSpPr>
        <p:spPr>
          <a:xfrm>
            <a:off x="571500" y="571500"/>
            <a:ext cx="5200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889F"/>
              </a:buClr>
              <a:buSzPts val="4500"/>
              <a:buFont typeface="Bodoni Moda"/>
              <a:buNone/>
            </a:pPr>
            <a:r>
              <a:rPr b="0" i="0" lang="en-US" sz="4500" u="none" cap="none" strike="noStrike">
                <a:solidFill>
                  <a:srgbClr val="58889F"/>
                </a:solidFill>
                <a:latin typeface="Bodoni Moda"/>
                <a:ea typeface="Bodoni Moda"/>
                <a:cs typeface="Bodoni Moda"/>
                <a:sym typeface="Bodoni Moda"/>
              </a:rPr>
              <a:t>INTRODUÇÃO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842963" y="1428750"/>
            <a:ext cx="7729538" cy="617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B"/>
              </a:buClr>
              <a:buSzPts val="2025"/>
              <a:buFont typeface="Bodoni Moda"/>
              <a:buNone/>
            </a:pPr>
            <a:r>
              <a:rPr b="0" i="1" lang="en-US" sz="2025" u="none" cap="none" strike="noStrike">
                <a:solidFill>
                  <a:srgbClr val="3A383B"/>
                </a:solidFill>
                <a:latin typeface="Bodoni Moda"/>
                <a:ea typeface="Bodoni Moda"/>
                <a:cs typeface="Bodoni Moda"/>
                <a:sym typeface="Bodoni Moda"/>
              </a:rPr>
              <a:t>"Nenhuma ferramenta sozinha é suficiente. A força está na integração."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71500" y="2331709"/>
            <a:ext cx="8001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B"/>
              </a:buClr>
              <a:buSzPts val="1350"/>
              <a:buFont typeface="Proxima Nova"/>
              <a:buNone/>
            </a:pPr>
            <a:r>
              <a:rPr b="0" i="0" lang="en-US" sz="1350" u="none" cap="none" strike="noStrike">
                <a:solidFill>
                  <a:srgbClr val="3A383B"/>
                </a:solidFill>
                <a:latin typeface="Proxima Nova"/>
                <a:ea typeface="Proxima Nova"/>
                <a:cs typeface="Proxima Nova"/>
                <a:sym typeface="Proxima Nova"/>
              </a:rPr>
              <a:t>A segurança digital eficaz funciona como um sistema de camadas complementares, onde cada componente desempenha um papel específico na proteção dos dados e sistemas.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71500" y="4096215"/>
            <a:ext cx="24003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889F"/>
              </a:buClr>
              <a:buSzPts val="1350"/>
              <a:buFont typeface="Bodoni Moda"/>
              <a:buNone/>
            </a:pPr>
            <a:r>
              <a:rPr b="0" i="0" lang="en-US" sz="1350" u="none" cap="none" strike="noStrike">
                <a:solidFill>
                  <a:srgbClr val="58889F"/>
                </a:solidFill>
                <a:latin typeface="Bodoni Moda"/>
                <a:ea typeface="Bodoni Moda"/>
                <a:cs typeface="Bodoni Moda"/>
                <a:sym typeface="Bodoni Moda"/>
              </a:rPr>
              <a:t>BACKUP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371850" y="4096215"/>
            <a:ext cx="24003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889F"/>
              </a:buClr>
              <a:buSzPts val="1350"/>
              <a:buFont typeface="Bodoni Moda"/>
              <a:buNone/>
            </a:pPr>
            <a:r>
              <a:rPr b="0" i="0" lang="en-US" sz="1350" u="none" cap="none" strike="noStrike">
                <a:solidFill>
                  <a:srgbClr val="58889F"/>
                </a:solidFill>
                <a:latin typeface="Bodoni Moda"/>
                <a:ea typeface="Bodoni Moda"/>
                <a:cs typeface="Bodoni Moda"/>
                <a:sym typeface="Bodoni Moda"/>
              </a:rPr>
              <a:t>ENDPOINT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6172200" y="4096215"/>
            <a:ext cx="24003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889F"/>
              </a:buClr>
              <a:buSzPts val="1350"/>
              <a:buFont typeface="Bodoni Moda"/>
              <a:buNone/>
            </a:pPr>
            <a:r>
              <a:rPr b="0" i="0" lang="en-US" sz="1350" u="none" cap="none" strike="noStrike">
                <a:solidFill>
                  <a:srgbClr val="58889F"/>
                </a:solidFill>
                <a:latin typeface="Bodoni Moda"/>
                <a:ea typeface="Bodoni Moda"/>
                <a:cs typeface="Bodoni Moda"/>
                <a:sym typeface="Bodoni Moda"/>
              </a:rPr>
              <a:t>ANTIVÍRUS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" name="Google Shape;3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5512" y="3131812"/>
            <a:ext cx="752281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" name="Google Shape;3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16597" y="3136046"/>
            <a:ext cx="1067156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" name="Google Shape;36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52551" y="3131804"/>
            <a:ext cx="857250" cy="8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2" name="Google Shape;4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3"/>
          <p:cNvSpPr/>
          <p:nvPr/>
        </p:nvSpPr>
        <p:spPr>
          <a:xfrm>
            <a:off x="285750" y="524314"/>
            <a:ext cx="40005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889F"/>
              </a:buClr>
              <a:buSzPts val="4500"/>
              <a:buFont typeface="Bodoni Moda"/>
              <a:buNone/>
            </a:pPr>
            <a:r>
              <a:rPr b="0" i="0" lang="en-US" sz="4500" u="none" cap="none" strike="noStrike">
                <a:solidFill>
                  <a:srgbClr val="58889F"/>
                </a:solidFill>
                <a:latin typeface="Bodoni Moda"/>
                <a:ea typeface="Bodoni Moda"/>
                <a:cs typeface="Bodoni Moda"/>
                <a:sym typeface="Bodoni Moda"/>
              </a:rPr>
              <a:t>BACKUP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285750" y="1310785"/>
            <a:ext cx="4000500" cy="7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B"/>
              </a:buClr>
              <a:buSzPts val="1350"/>
              <a:buFont typeface="Proxima Nova"/>
              <a:buNone/>
            </a:pPr>
            <a:r>
              <a:rPr b="0" i="0" lang="en-US" sz="1350" u="none" cap="none" strike="noStrike">
                <a:solidFill>
                  <a:srgbClr val="3A383B"/>
                </a:solidFill>
                <a:latin typeface="Proxima Nova"/>
                <a:ea typeface="Proxima Nova"/>
                <a:cs typeface="Proxima Nova"/>
                <a:sym typeface="Proxima Nova"/>
              </a:rPr>
              <a:t>Backup é um plano estratégico de recuperação e resiliência que garante a continuidade dos negócios mesmo após incidentes graves.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285750" y="2228334"/>
            <a:ext cx="4000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889F"/>
              </a:buClr>
              <a:buSzPts val="1575"/>
              <a:buFont typeface="Bodoni Moda"/>
              <a:buNone/>
            </a:pPr>
            <a:r>
              <a:rPr b="0" i="1" lang="en-US" sz="1575" u="none" cap="none" strike="noStrike">
                <a:solidFill>
                  <a:srgbClr val="58889F"/>
                </a:solidFill>
                <a:latin typeface="Bodoni Moda"/>
                <a:ea typeface="Bodoni Moda"/>
                <a:cs typeface="Bodoni Moda"/>
                <a:sym typeface="Bodoni Moda"/>
              </a:rPr>
              <a:t>"Backup não previne o ataque, mas garante que a operação sobreviva a ele."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285750" y="2967596"/>
            <a:ext cx="40005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Papel na proteção contra: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" name="Google Shape;4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3321508"/>
            <a:ext cx="150019" cy="157294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3"/>
          <p:cNvSpPr/>
          <p:nvPr/>
        </p:nvSpPr>
        <p:spPr>
          <a:xfrm>
            <a:off x="607225" y="3277597"/>
            <a:ext cx="10101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B"/>
              </a:buClr>
              <a:buSzPts val="1350"/>
              <a:buFont typeface="Proxima Nova"/>
              <a:buNone/>
            </a:pPr>
            <a:r>
              <a:rPr b="0" i="0" lang="en-US" sz="1350" u="none" cap="none" strike="noStrike">
                <a:solidFill>
                  <a:srgbClr val="3A383B"/>
                </a:solidFill>
                <a:latin typeface="Proxima Nova"/>
                <a:ea typeface="Proxima Nova"/>
                <a:cs typeface="Proxima Nova"/>
                <a:sym typeface="Proxima Nova"/>
              </a:rPr>
              <a:t>Ransomware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" name="Google Shape;4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750" y="3655757"/>
            <a:ext cx="171450" cy="157294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3"/>
          <p:cNvSpPr/>
          <p:nvPr/>
        </p:nvSpPr>
        <p:spPr>
          <a:xfrm>
            <a:off x="607256" y="3613372"/>
            <a:ext cx="15153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B"/>
              </a:buClr>
              <a:buSzPts val="1350"/>
              <a:buFont typeface="Proxima Nova"/>
              <a:buNone/>
            </a:pPr>
            <a:r>
              <a:rPr b="0" i="0" lang="en-US" sz="1350" u="none" cap="none" strike="noStrike">
                <a:solidFill>
                  <a:srgbClr val="3A383B"/>
                </a:solidFill>
                <a:latin typeface="Proxima Nova"/>
                <a:ea typeface="Proxima Nova"/>
                <a:cs typeface="Proxima Nova"/>
                <a:sym typeface="Proxima Nova"/>
              </a:rPr>
              <a:t>Falhas de hardware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" name="Google Shape;51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5750" y="3990008"/>
            <a:ext cx="214313" cy="157294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3"/>
          <p:cNvSpPr/>
          <p:nvPr/>
        </p:nvSpPr>
        <p:spPr>
          <a:xfrm>
            <a:off x="607219" y="3950684"/>
            <a:ext cx="11625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B"/>
              </a:buClr>
              <a:buSzPts val="1350"/>
              <a:buFont typeface="Proxima Nova"/>
              <a:buNone/>
            </a:pPr>
            <a:r>
              <a:rPr b="0" i="0" lang="en-US" sz="1350" u="none" cap="none" strike="noStrike">
                <a:solidFill>
                  <a:srgbClr val="3A383B"/>
                </a:solidFill>
                <a:latin typeface="Proxima Nova"/>
                <a:ea typeface="Proxima Nova"/>
                <a:cs typeface="Proxima Nova"/>
                <a:sym typeface="Proxima Nova"/>
              </a:rPr>
              <a:t>Erros humanos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" name="Google Shape;53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5750" y="4324258"/>
            <a:ext cx="171450" cy="15729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3"/>
          <p:cNvSpPr/>
          <p:nvPr/>
        </p:nvSpPr>
        <p:spPr>
          <a:xfrm>
            <a:off x="607256" y="4284934"/>
            <a:ext cx="14295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B"/>
              </a:buClr>
              <a:buSzPts val="1350"/>
              <a:buFont typeface="Proxima Nova"/>
              <a:buNone/>
            </a:pPr>
            <a:r>
              <a:rPr b="0" i="0" lang="en-US" sz="1350" u="none" cap="none" strike="noStrike">
                <a:solidFill>
                  <a:srgbClr val="3A383B"/>
                </a:solidFill>
                <a:latin typeface="Proxima Nova"/>
                <a:ea typeface="Proxima Nova"/>
                <a:cs typeface="Proxima Nova"/>
                <a:sym typeface="Proxima Nova"/>
              </a:rPr>
              <a:t>Desastres naturais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" name="Google Shape;55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72000" y="0"/>
            <a:ext cx="4572000" cy="5143496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8F8EF">
              <a:alpha val="2941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2" name="Google Shape;6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4"/>
          <p:cNvSpPr/>
          <p:nvPr/>
        </p:nvSpPr>
        <p:spPr>
          <a:xfrm>
            <a:off x="457200" y="457200"/>
            <a:ext cx="40005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889F"/>
              </a:buClr>
              <a:buSzPts val="3375"/>
              <a:buFont typeface="Bodoni Moda"/>
              <a:buNone/>
            </a:pPr>
            <a:r>
              <a:rPr b="0" i="0" lang="en-US" sz="3375" u="none" cap="none" strike="noStrike">
                <a:solidFill>
                  <a:srgbClr val="58889F"/>
                </a:solidFill>
                <a:latin typeface="Bodoni Moda"/>
                <a:ea typeface="Bodoni Moda"/>
                <a:cs typeface="Bodoni Moda"/>
                <a:sym typeface="Bodoni Moda"/>
              </a:rPr>
              <a:t>FUNCIONAMENTO</a:t>
            </a:r>
            <a:endParaRPr b="0" i="0" sz="33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" name="Google Shape;6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5838" y="1573411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5" name="Google Shape;6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07431" y="1573411"/>
            <a:ext cx="300038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6" name="Google Shape;6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86163" y="1573411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4"/>
          <p:cNvSpPr/>
          <p:nvPr/>
        </p:nvSpPr>
        <p:spPr>
          <a:xfrm>
            <a:off x="824899" y="2107388"/>
            <a:ext cx="6648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889F"/>
              </a:buClr>
              <a:buSzPts val="1575"/>
              <a:buFont typeface="Bodoni Moda"/>
              <a:buNone/>
            </a:pPr>
            <a:r>
              <a:rPr b="0" i="0" lang="en-US" sz="1200" u="none" cap="none" strike="noStrike">
                <a:solidFill>
                  <a:srgbClr val="58889F"/>
                </a:solidFill>
                <a:latin typeface="Bodoni Moda"/>
                <a:ea typeface="Bodoni Moda"/>
                <a:cs typeface="Bodoni Moda"/>
                <a:sym typeface="Bodoni Moda"/>
              </a:rPr>
              <a:t>Cópia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1816200" y="2107400"/>
            <a:ext cx="1282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889F"/>
              </a:buClr>
              <a:buSzPts val="1575"/>
              <a:buFont typeface="Bodoni Moda"/>
              <a:buNone/>
            </a:pPr>
            <a:r>
              <a:rPr b="0" i="0" lang="en-US" sz="1200" u="none" cap="none" strike="noStrike">
                <a:solidFill>
                  <a:srgbClr val="58889F"/>
                </a:solidFill>
                <a:latin typeface="Bodoni Moda"/>
                <a:ea typeface="Bodoni Moda"/>
                <a:cs typeface="Bodoni Moda"/>
                <a:sym typeface="Bodoni Moda"/>
              </a:rPr>
              <a:t>Armazenamento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3164375" y="2107400"/>
            <a:ext cx="1186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889F"/>
              </a:buClr>
              <a:buSzPts val="1575"/>
              <a:buFont typeface="Bodoni Moda"/>
              <a:buNone/>
            </a:pPr>
            <a:r>
              <a:rPr b="0" i="0" lang="en-US" sz="1200" u="none" cap="none" strike="noStrike">
                <a:solidFill>
                  <a:srgbClr val="58889F"/>
                </a:solidFill>
                <a:latin typeface="Bodoni Moda"/>
                <a:ea typeface="Bodoni Moda"/>
                <a:cs typeface="Bodoni Moda"/>
                <a:sym typeface="Bodoni Moda"/>
              </a:rPr>
              <a:t>Recuperação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57200" y="2650331"/>
            <a:ext cx="4000500" cy="1471613"/>
          </a:xfrm>
          <a:prstGeom prst="rect">
            <a:avLst/>
          </a:prstGeom>
          <a:solidFill>
            <a:srgbClr val="58889F">
              <a:alpha val="941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457200" y="2650331"/>
            <a:ext cx="57150" cy="1471613"/>
          </a:xfrm>
          <a:prstGeom prst="rect">
            <a:avLst/>
          </a:prstGeom>
          <a:solidFill>
            <a:srgbClr val="588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671513" y="2793206"/>
            <a:ext cx="35718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889F"/>
              </a:buClr>
              <a:buSzPts val="1800"/>
              <a:buFont typeface="Bodoni Moda"/>
              <a:buNone/>
            </a:pPr>
            <a:r>
              <a:rPr b="0" i="0" lang="en-US" sz="1800" u="none" cap="none" strike="noStrike">
                <a:solidFill>
                  <a:srgbClr val="58889F"/>
                </a:solidFill>
                <a:latin typeface="Bodoni Moda"/>
                <a:ea typeface="Bodoni Moda"/>
                <a:cs typeface="Bodoni Moda"/>
                <a:sym typeface="Bodoni Moda"/>
              </a:rPr>
              <a:t>Regra 3-2-1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671525" y="3239700"/>
            <a:ext cx="21126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B"/>
              </a:buClr>
              <a:buSzPts val="1350"/>
              <a:buFont typeface="Proxima Nova"/>
              <a:buNone/>
            </a:pPr>
            <a:r>
              <a:rPr b="0" i="0" lang="en-US" sz="1350" u="none" cap="none" strike="noStrike">
                <a:solidFill>
                  <a:srgbClr val="3A383B"/>
                </a:solidFill>
                <a:latin typeface="Proxima Nova"/>
                <a:ea typeface="Proxima Nova"/>
                <a:cs typeface="Proxima Nova"/>
                <a:sym typeface="Proxima Nova"/>
              </a:rPr>
              <a:t> 3 cópias dos dados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671525" y="3496875"/>
            <a:ext cx="21126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B"/>
              </a:buClr>
              <a:buSzPts val="1350"/>
              <a:buFont typeface="Proxima Nova"/>
              <a:buNone/>
            </a:pPr>
            <a:r>
              <a:rPr b="0" i="0" lang="en-US" sz="1350" u="none" cap="none" strike="noStrike">
                <a:solidFill>
                  <a:srgbClr val="3A383B"/>
                </a:solidFill>
                <a:latin typeface="Proxima Nova"/>
                <a:ea typeface="Proxima Nova"/>
                <a:cs typeface="Proxima Nova"/>
                <a:sym typeface="Proxima Nova"/>
              </a:rPr>
              <a:t> 2 tipos diferentes de mídia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671575" y="3754050"/>
            <a:ext cx="21126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B"/>
              </a:buClr>
              <a:buSzPts val="1350"/>
              <a:buFont typeface="Proxima Nova"/>
              <a:buNone/>
            </a:pPr>
            <a:r>
              <a:rPr b="0" i="0" lang="en-US" sz="1350" u="none" cap="none" strike="noStrike">
                <a:solidFill>
                  <a:srgbClr val="3A383B"/>
                </a:solidFill>
                <a:latin typeface="Proxima Nova"/>
                <a:ea typeface="Proxima Nova"/>
                <a:cs typeface="Proxima Nova"/>
                <a:sym typeface="Proxima Nova"/>
              </a:rPr>
              <a:t> 1 cópia armazenada off-site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4"/>
          <p:cNvPicPr preferRelativeResize="0"/>
          <p:nvPr/>
        </p:nvPicPr>
        <p:blipFill rotWithShape="1">
          <a:blip r:embed="rId7">
            <a:alphaModFix/>
          </a:blip>
          <a:srcRect b="9819" l="0" r="0" t="9819"/>
          <a:stretch/>
        </p:blipFill>
        <p:spPr>
          <a:xfrm>
            <a:off x="4686300" y="457200"/>
            <a:ext cx="4000500" cy="214312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4"/>
          <p:cNvSpPr/>
          <p:nvPr/>
        </p:nvSpPr>
        <p:spPr>
          <a:xfrm>
            <a:off x="4686300" y="2743200"/>
            <a:ext cx="4000500" cy="1385888"/>
          </a:xfrm>
          <a:prstGeom prst="rect">
            <a:avLst/>
          </a:prstGeom>
          <a:solidFill>
            <a:srgbClr val="3A383B">
              <a:alpha val="431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829175" y="2886075"/>
            <a:ext cx="37149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B"/>
              </a:buClr>
              <a:buSzPts val="1350"/>
              <a:buFont typeface="Bodoni Moda"/>
              <a:buNone/>
            </a:pPr>
            <a:r>
              <a:rPr b="0" i="0" lang="en-US" sz="1350" u="none" cap="none" strike="noStrike">
                <a:solidFill>
                  <a:srgbClr val="3A383B"/>
                </a:solidFill>
                <a:latin typeface="Bodoni Moda"/>
                <a:ea typeface="Bodoni Moda"/>
                <a:cs typeface="Bodoni Moda"/>
                <a:sym typeface="Bodoni Moda"/>
              </a:rPr>
              <a:t>Veeam Backup &amp; Replication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4829175" y="3214688"/>
            <a:ext cx="37147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B"/>
              </a:buClr>
              <a:buSzPts val="1350"/>
              <a:buFont typeface="Proxima Nova"/>
              <a:buNone/>
            </a:pPr>
            <a:r>
              <a:rPr b="0" i="0" lang="en-US" sz="1350" u="none" cap="none" strike="noStrike">
                <a:solidFill>
                  <a:srgbClr val="3A383B"/>
                </a:solidFill>
                <a:latin typeface="Proxima Nova"/>
                <a:ea typeface="Proxima Nova"/>
                <a:cs typeface="Proxima Nova"/>
                <a:sym typeface="Proxima Nova"/>
              </a:rPr>
              <a:t>Essa é uma das soluções mais robustas para ambientes híbridos, Usada por empresas de médio a grande porte para proteger servidores virtuais e físicos.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5" name="Google Shape;8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7"/>
          <p:cNvSpPr/>
          <p:nvPr/>
        </p:nvSpPr>
        <p:spPr>
          <a:xfrm>
            <a:off x="357188" y="-357187"/>
            <a:ext cx="1573076" cy="3214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B"/>
              </a:buClr>
              <a:buSzPts val="16875"/>
              <a:buFont typeface="Noto Sans"/>
              <a:buNone/>
            </a:pPr>
            <a:r>
              <a:rPr b="1" i="0" lang="en-US" sz="16875" u="none" cap="none" strike="noStrike">
                <a:solidFill>
                  <a:srgbClr val="3A383B"/>
                </a:solidFill>
                <a:latin typeface="Noto Sans"/>
                <a:ea typeface="Noto Sans"/>
                <a:cs typeface="Noto Sans"/>
                <a:sym typeface="Noto Sans"/>
              </a:rPr>
              <a:t>D</a:t>
            </a:r>
            <a:endParaRPr b="0" i="0" sz="16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7" name="Google Shape;8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4572001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7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F8F8EF">
              <a:alpha val="2941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4857750" y="542564"/>
            <a:ext cx="4000500" cy="5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889F"/>
              </a:buClr>
              <a:buSzPts val="4500"/>
              <a:buFont typeface="Bodoni Moda"/>
              <a:buNone/>
            </a:pPr>
            <a:r>
              <a:rPr b="0" i="0" lang="en-US" sz="4500" u="none" cap="none" strike="noStrike">
                <a:solidFill>
                  <a:srgbClr val="58889F"/>
                </a:solidFill>
                <a:latin typeface="Bodoni Moda"/>
                <a:ea typeface="Bodoni Moda"/>
                <a:cs typeface="Bodoni Moda"/>
                <a:sym typeface="Bodoni Moda"/>
              </a:rPr>
              <a:t>ANTIVÍRUS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4857750" y="1356410"/>
            <a:ext cx="4000500" cy="7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314325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B"/>
              </a:buClr>
              <a:buSzPts val="1350"/>
              <a:buFont typeface="Proxima Nova"/>
              <a:buChar char="●"/>
            </a:pPr>
            <a:r>
              <a:rPr b="0" i="0" lang="en-US" sz="1350" u="none" cap="none" strike="noStrike">
                <a:solidFill>
                  <a:srgbClr val="3A383B"/>
                </a:solidFill>
                <a:latin typeface="Proxima Nova"/>
                <a:ea typeface="Proxima Nova"/>
                <a:cs typeface="Proxima Nova"/>
                <a:sym typeface="Proxima Nova"/>
              </a:rPr>
              <a:t>Camada básica e tradicional de proteção contra malware, essencial para usuários finais e pequenas empresas.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4857750" y="2305898"/>
            <a:ext cx="40005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889F"/>
              </a:buClr>
              <a:buSzPts val="1575"/>
              <a:buFont typeface="Bodoni Moda"/>
              <a:buNone/>
            </a:pPr>
            <a:r>
              <a:rPr b="0" i="0" lang="en-US" sz="1575" u="none" cap="none" strike="noStrike">
                <a:solidFill>
                  <a:srgbClr val="58889F"/>
                </a:solidFill>
                <a:latin typeface="Bodoni Moda"/>
                <a:ea typeface="Bodoni Moda"/>
                <a:cs typeface="Bodoni Moda"/>
                <a:sym typeface="Bodoni Moda"/>
              </a:rPr>
              <a:t>Papel do Antivírus: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" name="Google Shape;9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0" y="2756216"/>
            <a:ext cx="171450" cy="16276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7"/>
          <p:cNvSpPr/>
          <p:nvPr/>
        </p:nvSpPr>
        <p:spPr>
          <a:xfrm>
            <a:off x="5136356" y="2715523"/>
            <a:ext cx="24396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B"/>
              </a:buClr>
              <a:buSzPts val="1350"/>
              <a:buFont typeface="Proxima Nova"/>
              <a:buNone/>
            </a:pPr>
            <a:r>
              <a:rPr b="0" i="0" lang="en-US" sz="1350" u="none" cap="none" strike="noStrike">
                <a:solidFill>
                  <a:srgbClr val="3A383B"/>
                </a:solidFill>
                <a:latin typeface="Proxima Nova"/>
                <a:ea typeface="Proxima Nova"/>
                <a:cs typeface="Proxima Nova"/>
                <a:sym typeface="Proxima Nova"/>
              </a:rPr>
              <a:t>Identificar malwares conhecidos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4" name="Google Shape;9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57750" y="3102100"/>
            <a:ext cx="171450" cy="16276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7"/>
          <p:cNvSpPr/>
          <p:nvPr/>
        </p:nvSpPr>
        <p:spPr>
          <a:xfrm>
            <a:off x="5136356" y="3061408"/>
            <a:ext cx="30213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B"/>
              </a:buClr>
              <a:buSzPts val="1350"/>
              <a:buFont typeface="Proxima Nova"/>
              <a:buNone/>
            </a:pPr>
            <a:r>
              <a:rPr b="0" i="0" lang="en-US" sz="1350" u="none" cap="none" strike="noStrike">
                <a:solidFill>
                  <a:srgbClr val="3A383B"/>
                </a:solidFill>
                <a:latin typeface="Proxima Nova"/>
                <a:ea typeface="Proxima Nova"/>
                <a:cs typeface="Proxima Nova"/>
                <a:sym typeface="Proxima Nova"/>
              </a:rPr>
              <a:t>Bloquear execução de código malicioso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6" name="Google Shape;96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57750" y="3447984"/>
            <a:ext cx="150019" cy="16276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7"/>
          <p:cNvSpPr/>
          <p:nvPr/>
        </p:nvSpPr>
        <p:spPr>
          <a:xfrm>
            <a:off x="5114925" y="3407293"/>
            <a:ext cx="23253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B"/>
              </a:buClr>
              <a:buSzPts val="1350"/>
              <a:buFont typeface="Proxima Nova"/>
              <a:buNone/>
            </a:pPr>
            <a:r>
              <a:rPr b="0" i="0" lang="en-US" sz="1350" u="none" cap="none" strike="noStrike">
                <a:solidFill>
                  <a:srgbClr val="3A383B"/>
                </a:solidFill>
                <a:latin typeface="Proxima Nova"/>
                <a:ea typeface="Proxima Nova"/>
                <a:cs typeface="Proxima Nova"/>
                <a:sym typeface="Proxima Nova"/>
              </a:rPr>
              <a:t>Remover ameaças detectadas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4857750" y="3868472"/>
            <a:ext cx="4000500" cy="7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B"/>
              </a:buClr>
              <a:buSzPts val="1350"/>
              <a:buFont typeface="Proxima Nova"/>
              <a:buNone/>
            </a:pPr>
            <a:r>
              <a:rPr b="0" i="0" lang="en-US" sz="1350" u="none" cap="none" strike="noStrike">
                <a:solidFill>
                  <a:srgbClr val="3A383B"/>
                </a:solidFill>
                <a:latin typeface="Proxima Nova"/>
                <a:ea typeface="Proxima Nova"/>
                <a:cs typeface="Proxima Nova"/>
                <a:sym typeface="Proxima Nova"/>
              </a:rPr>
              <a:t>Representa a primeira linha de defesa contra ameaças digitais comuns, protegendo contra vírus, worms, trojans e outros tipos de malware.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4" name="Google Shape;10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8"/>
          <p:cNvSpPr/>
          <p:nvPr/>
        </p:nvSpPr>
        <p:spPr>
          <a:xfrm>
            <a:off x="457200" y="391886"/>
            <a:ext cx="82296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889F"/>
              </a:buClr>
              <a:buSzPts val="3375"/>
              <a:buFont typeface="Bodoni Moda"/>
              <a:buNone/>
            </a:pPr>
            <a:r>
              <a:rPr b="0" i="0" lang="en-US" sz="3375" u="none" cap="none" strike="noStrike">
                <a:solidFill>
                  <a:srgbClr val="58889F"/>
                </a:solidFill>
                <a:latin typeface="Bodoni Moda"/>
                <a:ea typeface="Bodoni Moda"/>
                <a:cs typeface="Bodoni Moda"/>
                <a:sym typeface="Bodoni Moda"/>
              </a:rPr>
              <a:t>ANTIVÍRUS: FUNCIONAMENTO</a:t>
            </a:r>
            <a:endParaRPr b="0" i="0" sz="33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457200" y="955222"/>
            <a:ext cx="4000500" cy="2553300"/>
          </a:xfrm>
          <a:prstGeom prst="rect">
            <a:avLst/>
          </a:prstGeom>
          <a:solidFill>
            <a:srgbClr val="58889F">
              <a:alpha val="941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600075" y="1077686"/>
            <a:ext cx="37149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889F"/>
              </a:buClr>
              <a:buSzPts val="2025"/>
              <a:buFont typeface="Bodoni Moda"/>
              <a:buNone/>
            </a:pPr>
            <a:r>
              <a:rPr b="0" i="0" lang="en-US" sz="2025" u="none" cap="none" strike="noStrike">
                <a:solidFill>
                  <a:srgbClr val="58889F"/>
                </a:solidFill>
                <a:latin typeface="Bodoni Moda"/>
                <a:ea typeface="Bodoni Moda"/>
                <a:cs typeface="Bodoni Moda"/>
                <a:sym typeface="Bodoni Moda"/>
              </a:rPr>
              <a:t>Assinaturas (Reativo)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600075" y="1500188"/>
            <a:ext cx="37149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B"/>
              </a:buClr>
              <a:buSzPts val="1350"/>
              <a:buFont typeface="Proxima Nova"/>
              <a:buNone/>
            </a:pPr>
            <a:r>
              <a:rPr b="0" i="0" lang="en-US" sz="1350" u="none" cap="none" strike="noStrike">
                <a:solidFill>
                  <a:srgbClr val="3A383B"/>
                </a:solidFill>
                <a:latin typeface="Proxima Nova"/>
                <a:ea typeface="Proxima Nova"/>
                <a:cs typeface="Proxima Nova"/>
                <a:sym typeface="Proxima Nova"/>
              </a:rPr>
              <a:t>Método tradicional que compara arquivos com um banco de dados de códigos maliciosos conhecidos.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9" name="Google Shape;109;p8"/>
          <p:cNvGrpSpPr/>
          <p:nvPr/>
        </p:nvGrpSpPr>
        <p:grpSpPr>
          <a:xfrm>
            <a:off x="600075" y="2283845"/>
            <a:ext cx="2484044" cy="1102214"/>
            <a:chOff x="600075" y="2664619"/>
            <a:chExt cx="2484044" cy="1285981"/>
          </a:xfrm>
        </p:grpSpPr>
        <p:sp>
          <p:nvSpPr>
            <p:cNvPr id="110" name="Google Shape;110;p8"/>
            <p:cNvSpPr/>
            <p:nvPr/>
          </p:nvSpPr>
          <p:spPr>
            <a:xfrm>
              <a:off x="600075" y="2664619"/>
              <a:ext cx="2484044" cy="357188"/>
            </a:xfrm>
            <a:prstGeom prst="rect">
              <a:avLst/>
            </a:prstGeom>
            <a:solidFill>
              <a:srgbClr val="3A383B">
                <a:alpha val="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8"/>
            <p:cNvSpPr/>
            <p:nvPr/>
          </p:nvSpPr>
          <p:spPr>
            <a:xfrm>
              <a:off x="600075" y="2664625"/>
              <a:ext cx="2484000" cy="3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5075" lIns="127500" spcFirstLastPara="1" rIns="127500" wrap="square" tIns="850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46"/>
                <a:buFont typeface="Noto Sans"/>
                <a:buNone/>
              </a:pPr>
              <a:r>
                <a:rPr b="0" i="0" lang="en-US" sz="1046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Eficaz contra ameaças conhecidas</a:t>
              </a:r>
              <a:endParaRPr b="0" i="0" sz="104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8"/>
            <p:cNvSpPr/>
            <p:nvPr/>
          </p:nvSpPr>
          <p:spPr>
            <a:xfrm>
              <a:off x="600075" y="3128975"/>
              <a:ext cx="2484000" cy="357300"/>
            </a:xfrm>
            <a:prstGeom prst="rect">
              <a:avLst/>
            </a:prstGeom>
            <a:solidFill>
              <a:srgbClr val="3A383B">
                <a:alpha val="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8"/>
            <p:cNvSpPr/>
            <p:nvPr/>
          </p:nvSpPr>
          <p:spPr>
            <a:xfrm>
              <a:off x="600075" y="3128975"/>
              <a:ext cx="2484000" cy="3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5075" lIns="127500" spcFirstLastPara="1" rIns="127500" wrap="square" tIns="850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46"/>
                <a:buFont typeface="Noto Sans"/>
                <a:buNone/>
              </a:pPr>
              <a:r>
                <a:rPr b="0" i="0" lang="en-US" sz="1046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Atualizações frequentes</a:t>
              </a:r>
              <a:endParaRPr b="0" i="0" sz="104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8"/>
            <p:cNvSpPr/>
            <p:nvPr/>
          </p:nvSpPr>
          <p:spPr>
            <a:xfrm>
              <a:off x="600075" y="3593300"/>
              <a:ext cx="2484000" cy="357300"/>
            </a:xfrm>
            <a:prstGeom prst="rect">
              <a:avLst/>
            </a:prstGeom>
            <a:solidFill>
              <a:srgbClr val="3A383B">
                <a:alpha val="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8"/>
            <p:cNvSpPr/>
            <p:nvPr/>
          </p:nvSpPr>
          <p:spPr>
            <a:xfrm>
              <a:off x="600075" y="3593300"/>
              <a:ext cx="2484000" cy="3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5075" lIns="127500" spcFirstLastPara="1" rIns="127500" wrap="square" tIns="850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46"/>
                <a:buFont typeface="Noto Sans"/>
                <a:buNone/>
              </a:pPr>
              <a:r>
                <a:rPr b="0" i="0" lang="en-US" sz="1046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Baixo consumo de recursos</a:t>
              </a:r>
              <a:endParaRPr b="0" i="0" sz="104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6" name="Google Shape;116;p8"/>
          <p:cNvSpPr/>
          <p:nvPr/>
        </p:nvSpPr>
        <p:spPr>
          <a:xfrm>
            <a:off x="4686300" y="955222"/>
            <a:ext cx="4000500" cy="2553300"/>
          </a:xfrm>
          <a:prstGeom prst="rect">
            <a:avLst/>
          </a:prstGeom>
          <a:solidFill>
            <a:srgbClr val="58889F">
              <a:alpha val="941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4829175" y="1077686"/>
            <a:ext cx="37149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889F"/>
              </a:buClr>
              <a:buSzPts val="2025"/>
              <a:buFont typeface="Bodoni Moda"/>
              <a:buNone/>
            </a:pPr>
            <a:r>
              <a:rPr b="0" i="0" lang="en-US" sz="2025" u="none" cap="none" strike="noStrike">
                <a:solidFill>
                  <a:srgbClr val="58889F"/>
                </a:solidFill>
                <a:latin typeface="Bodoni Moda"/>
                <a:ea typeface="Bodoni Moda"/>
                <a:cs typeface="Bodoni Moda"/>
                <a:sym typeface="Bodoni Moda"/>
              </a:rPr>
              <a:t>Heurística (Comportamental)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4829175" y="1500188"/>
            <a:ext cx="37149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B"/>
              </a:buClr>
              <a:buSzPts val="1350"/>
              <a:buFont typeface="Proxima Nova"/>
              <a:buNone/>
            </a:pPr>
            <a:r>
              <a:rPr b="0" i="0" lang="en-US" sz="1350" u="none" cap="none" strike="noStrike">
                <a:solidFill>
                  <a:srgbClr val="3A383B"/>
                </a:solidFill>
                <a:latin typeface="Proxima Nova"/>
                <a:ea typeface="Proxima Nova"/>
                <a:cs typeface="Proxima Nova"/>
                <a:sym typeface="Proxima Nova"/>
              </a:rPr>
              <a:t>Análise do comportamento de arquivos e programas para identificar padrões suspeitos.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9" name="Google Shape;119;p8"/>
          <p:cNvGrpSpPr/>
          <p:nvPr/>
        </p:nvGrpSpPr>
        <p:grpSpPr>
          <a:xfrm>
            <a:off x="457175" y="3815095"/>
            <a:ext cx="8229679" cy="1102291"/>
            <a:chOff x="457174" y="4450550"/>
            <a:chExt cx="8229679" cy="921725"/>
          </a:xfrm>
        </p:grpSpPr>
        <p:sp>
          <p:nvSpPr>
            <p:cNvPr id="120" name="Google Shape;120;p8"/>
            <p:cNvSpPr/>
            <p:nvPr/>
          </p:nvSpPr>
          <p:spPr>
            <a:xfrm>
              <a:off x="457200" y="4450550"/>
              <a:ext cx="8229600" cy="921600"/>
            </a:xfrm>
            <a:prstGeom prst="rect">
              <a:avLst/>
            </a:prstGeom>
            <a:solidFill>
              <a:srgbClr val="58889F">
                <a:alpha val="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1" name="Google Shape;121;p8"/>
            <p:cNvGrpSpPr/>
            <p:nvPr/>
          </p:nvGrpSpPr>
          <p:grpSpPr>
            <a:xfrm>
              <a:off x="457174" y="4450575"/>
              <a:ext cx="8229679" cy="921700"/>
              <a:chOff x="457192" y="4450555"/>
              <a:chExt cx="9196200" cy="921700"/>
            </a:xfrm>
          </p:grpSpPr>
          <p:sp>
            <p:nvSpPr>
              <p:cNvPr id="122" name="Google Shape;122;p8"/>
              <p:cNvSpPr/>
              <p:nvPr/>
            </p:nvSpPr>
            <p:spPr>
              <a:xfrm>
                <a:off x="457192" y="4450555"/>
                <a:ext cx="91962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A383B"/>
                  </a:buClr>
                  <a:buSzPts val="1575"/>
                  <a:buFont typeface="Bodoni Moda"/>
                  <a:buNone/>
                </a:pPr>
                <a:r>
                  <a:rPr b="0" i="0" lang="en-US" sz="1575" u="none" cap="none" strike="noStrike">
                    <a:solidFill>
                      <a:srgbClr val="3A383B"/>
                    </a:solidFill>
                    <a:latin typeface="Bodoni Moda"/>
                    <a:ea typeface="Bodoni Moda"/>
                    <a:cs typeface="Bodoni Moda"/>
                    <a:sym typeface="Bodoni Moda"/>
                  </a:rPr>
                  <a:t>Exemplo Real: Microsoft Defender Antivirus</a:t>
                </a:r>
                <a:endParaRPr b="0" i="0" sz="1575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8"/>
              <p:cNvSpPr/>
              <p:nvPr/>
            </p:nvSpPr>
            <p:spPr>
              <a:xfrm>
                <a:off x="457192" y="4857755"/>
                <a:ext cx="9196200" cy="5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just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A383B"/>
                  </a:buClr>
                  <a:buSzPts val="1350"/>
                  <a:buFont typeface="Proxima Nova"/>
                  <a:buNone/>
                </a:pPr>
                <a:r>
                  <a:rPr b="0" i="0" lang="en-US" sz="1350" u="none" cap="none" strike="noStrike">
                    <a:solidFill>
                      <a:srgbClr val="3A383B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Integrado ao Windows, combina assinaturas e heurística com proteção baseada em nuvem para identificar ameaças em tempo real, oferecendo proteção abrangente para usuários domésticos e empresariais.</a:t>
                </a:r>
                <a:endParaRPr b="0" i="0" sz="13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4" name="Google Shape;124;p8"/>
          <p:cNvGrpSpPr/>
          <p:nvPr/>
        </p:nvGrpSpPr>
        <p:grpSpPr>
          <a:xfrm>
            <a:off x="4829124" y="2283776"/>
            <a:ext cx="2484082" cy="1102241"/>
            <a:chOff x="4829171" y="2407444"/>
            <a:chExt cx="2110520" cy="1286012"/>
          </a:xfrm>
        </p:grpSpPr>
        <p:sp>
          <p:nvSpPr>
            <p:cNvPr id="125" name="Google Shape;125;p8"/>
            <p:cNvSpPr/>
            <p:nvPr/>
          </p:nvSpPr>
          <p:spPr>
            <a:xfrm>
              <a:off x="4829175" y="2407444"/>
              <a:ext cx="2099700" cy="357300"/>
            </a:xfrm>
            <a:prstGeom prst="rect">
              <a:avLst/>
            </a:prstGeom>
            <a:solidFill>
              <a:srgbClr val="3A383B">
                <a:alpha val="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8"/>
            <p:cNvSpPr/>
            <p:nvPr/>
          </p:nvSpPr>
          <p:spPr>
            <a:xfrm>
              <a:off x="4829175" y="2407444"/>
              <a:ext cx="2099700" cy="3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5075" lIns="127500" spcFirstLastPara="1" rIns="127500" wrap="square" tIns="85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46"/>
                <a:buFont typeface="Noto Sans"/>
                <a:buNone/>
              </a:pPr>
              <a:r>
                <a:rPr b="0" i="0" lang="en-US" sz="1046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Detecção de ameaças novas</a:t>
              </a:r>
              <a:endParaRPr b="0" i="0" sz="104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8"/>
            <p:cNvSpPr/>
            <p:nvPr/>
          </p:nvSpPr>
          <p:spPr>
            <a:xfrm>
              <a:off x="4829171" y="2871781"/>
              <a:ext cx="2099700" cy="357300"/>
            </a:xfrm>
            <a:prstGeom prst="rect">
              <a:avLst/>
            </a:prstGeom>
            <a:solidFill>
              <a:srgbClr val="3A383B">
                <a:alpha val="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8"/>
            <p:cNvSpPr/>
            <p:nvPr/>
          </p:nvSpPr>
          <p:spPr>
            <a:xfrm>
              <a:off x="4829171" y="2871781"/>
              <a:ext cx="21051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5075" lIns="127500" spcFirstLastPara="1" rIns="127500" wrap="square" tIns="85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46"/>
                <a:buFont typeface="Noto Sans"/>
                <a:buNone/>
              </a:pPr>
              <a:r>
                <a:rPr b="0" i="0" lang="en-US" sz="1046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Análise em tempo real</a:t>
              </a:r>
              <a:endParaRPr b="0" i="0" sz="104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8"/>
            <p:cNvSpPr/>
            <p:nvPr/>
          </p:nvSpPr>
          <p:spPr>
            <a:xfrm>
              <a:off x="4834617" y="3336131"/>
              <a:ext cx="2099700" cy="357300"/>
            </a:xfrm>
            <a:prstGeom prst="rect">
              <a:avLst/>
            </a:prstGeom>
            <a:solidFill>
              <a:srgbClr val="3A383B">
                <a:alpha val="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8"/>
            <p:cNvSpPr/>
            <p:nvPr/>
          </p:nvSpPr>
          <p:spPr>
            <a:xfrm>
              <a:off x="4834591" y="3336156"/>
              <a:ext cx="2105100" cy="3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5075" lIns="127500" spcFirstLastPara="1" rIns="127500" wrap="square" tIns="85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46"/>
                <a:buFont typeface="Noto Sans"/>
                <a:buNone/>
              </a:pPr>
              <a:r>
                <a:rPr b="0" i="0" lang="en-US" sz="1046" u="none" cap="none" strike="noStrike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Maior uso de recursos</a:t>
              </a:r>
              <a:endParaRPr b="0" i="0" sz="104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6" name="Google Shape;136;g6a31142b98fe4e42_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7921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6a31142b98fe4e42_94"/>
          <p:cNvSpPr/>
          <p:nvPr/>
        </p:nvSpPr>
        <p:spPr>
          <a:xfrm>
            <a:off x="457200" y="305250"/>
            <a:ext cx="4000500" cy="12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889F"/>
              </a:buClr>
              <a:buSzPts val="4500"/>
              <a:buFont typeface="Bodoni Moda"/>
              <a:buNone/>
            </a:pPr>
            <a:r>
              <a:rPr b="0" i="0" lang="en-US" sz="4500" u="none" cap="none" strike="noStrike">
                <a:solidFill>
                  <a:srgbClr val="58889F"/>
                </a:solidFill>
                <a:latin typeface="Bodoni Moda"/>
                <a:ea typeface="Bodoni Moda"/>
                <a:cs typeface="Bodoni Moda"/>
                <a:sym typeface="Bodoni Moda"/>
              </a:rPr>
              <a:t>PROTEÇÃO DE ENDPOINT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6a31142b98fe4e42_94"/>
          <p:cNvSpPr/>
          <p:nvPr/>
        </p:nvSpPr>
        <p:spPr>
          <a:xfrm>
            <a:off x="457200" y="1771650"/>
            <a:ext cx="4000500" cy="7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B"/>
              </a:buClr>
              <a:buSzPts val="1350"/>
              <a:buFont typeface="Proxima Nova"/>
              <a:buNone/>
            </a:pPr>
            <a:r>
              <a:rPr b="0" i="0" lang="en-US" sz="1350" u="none" cap="none" strike="noStrike">
                <a:solidFill>
                  <a:srgbClr val="3A383B"/>
                </a:solidFill>
                <a:latin typeface="Proxima Nova"/>
                <a:ea typeface="Proxima Nova"/>
                <a:cs typeface="Proxima Nova"/>
                <a:sym typeface="Proxima Nova"/>
              </a:rPr>
              <a:t>Defesa ativa em dispositivos finais como laptops, servidores, smartphones e outros pontos de acesso à rede corporativa.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6a31142b98fe4e42_94"/>
          <p:cNvSpPr/>
          <p:nvPr/>
        </p:nvSpPr>
        <p:spPr>
          <a:xfrm>
            <a:off x="457200" y="2914650"/>
            <a:ext cx="4000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889F"/>
              </a:buClr>
              <a:buSzPts val="1575"/>
              <a:buFont typeface="Bodoni Moda"/>
              <a:buNone/>
            </a:pPr>
            <a:r>
              <a:rPr b="0" i="0" lang="en-US" sz="1575" u="none" cap="none" strike="noStrike">
                <a:solidFill>
                  <a:srgbClr val="58889F"/>
                </a:solidFill>
                <a:latin typeface="Bodoni Moda"/>
                <a:ea typeface="Bodoni Moda"/>
                <a:cs typeface="Bodoni Moda"/>
                <a:sym typeface="Bodoni Moda"/>
              </a:rPr>
              <a:t>Diferença para antivírus: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6a31142b98fe4e42_94"/>
          <p:cNvSpPr/>
          <p:nvPr/>
        </p:nvSpPr>
        <p:spPr>
          <a:xfrm>
            <a:off x="457200" y="3321844"/>
            <a:ext cx="40005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B"/>
              </a:buClr>
              <a:buSzPts val="1350"/>
              <a:buFont typeface="Proxima Nova"/>
              <a:buNone/>
            </a:pPr>
            <a:r>
              <a:rPr b="0" i="0" lang="en-US" sz="1350" u="none" cap="none" strike="noStrike">
                <a:solidFill>
                  <a:srgbClr val="3A383B"/>
                </a:solidFill>
                <a:latin typeface="Proxima Nova"/>
                <a:ea typeface="Proxima Nova"/>
                <a:cs typeface="Proxima Nova"/>
                <a:sym typeface="Proxima Nova"/>
              </a:rPr>
              <a:t>Enquanto antivírus são reativos e baseados em assinaturas, a proteção de endpoint é proativa, utilizando comportamento e inteligência artificial para detectar ameaças desconhecidas.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1" name="Google Shape;141;g6a31142b98fe4e42_94"/>
          <p:cNvGrpSpPr/>
          <p:nvPr/>
        </p:nvGrpSpPr>
        <p:grpSpPr>
          <a:xfrm>
            <a:off x="4752320" y="305260"/>
            <a:ext cx="4000500" cy="3528765"/>
            <a:chOff x="4686300" y="86085"/>
            <a:chExt cx="4000500" cy="3528765"/>
          </a:xfrm>
        </p:grpSpPr>
        <p:grpSp>
          <p:nvGrpSpPr>
            <p:cNvPr id="142" name="Google Shape;142;g6a31142b98fe4e42_94"/>
            <p:cNvGrpSpPr/>
            <p:nvPr/>
          </p:nvGrpSpPr>
          <p:grpSpPr>
            <a:xfrm>
              <a:off x="4686300" y="2914650"/>
              <a:ext cx="4000500" cy="700200"/>
              <a:chOff x="4686300" y="2743200"/>
              <a:chExt cx="4000500" cy="700200"/>
            </a:xfrm>
          </p:grpSpPr>
          <p:sp>
            <p:nvSpPr>
              <p:cNvPr id="143" name="Google Shape;143;g6a31142b98fe4e42_94"/>
              <p:cNvSpPr/>
              <p:nvPr/>
            </p:nvSpPr>
            <p:spPr>
              <a:xfrm>
                <a:off x="4686300" y="2743200"/>
                <a:ext cx="1257300" cy="700200"/>
              </a:xfrm>
              <a:prstGeom prst="rect">
                <a:avLst/>
              </a:prstGeom>
              <a:solidFill>
                <a:srgbClr val="58889F">
                  <a:alpha val="941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g6a31142b98fe4e42_94"/>
              <p:cNvSpPr/>
              <p:nvPr/>
            </p:nvSpPr>
            <p:spPr>
              <a:xfrm>
                <a:off x="4829175" y="2886075"/>
                <a:ext cx="9717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8889F"/>
                  </a:buClr>
                  <a:buSzPts val="1800"/>
                  <a:buFont typeface="Bodoni Moda"/>
                  <a:buNone/>
                </a:pPr>
                <a:r>
                  <a:rPr b="0" i="0" lang="en-US" sz="1400" u="none" cap="none" strike="noStrike">
                    <a:solidFill>
                      <a:srgbClr val="58889F"/>
                    </a:solidFill>
                    <a:latin typeface="Bodoni Moda"/>
                    <a:ea typeface="Bodoni Moda"/>
                    <a:cs typeface="Bodoni Moda"/>
                    <a:sym typeface="Bodoni Moda"/>
                  </a:rPr>
                  <a:t>Prevenir</a:t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g6a31142b98fe4e42_94"/>
              <p:cNvSpPr/>
              <p:nvPr/>
            </p:nvSpPr>
            <p:spPr>
              <a:xfrm>
                <a:off x="6057900" y="2743200"/>
                <a:ext cx="1257300" cy="700200"/>
              </a:xfrm>
              <a:prstGeom prst="rect">
                <a:avLst/>
              </a:prstGeom>
              <a:solidFill>
                <a:srgbClr val="58889F">
                  <a:alpha val="941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g6a31142b98fe4e42_94"/>
              <p:cNvSpPr/>
              <p:nvPr/>
            </p:nvSpPr>
            <p:spPr>
              <a:xfrm>
                <a:off x="6200775" y="2886075"/>
                <a:ext cx="9717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8889F"/>
                  </a:buClr>
                  <a:buSzPts val="1800"/>
                  <a:buFont typeface="Bodoni Moda"/>
                  <a:buNone/>
                </a:pPr>
                <a:r>
                  <a:rPr b="0" i="0" lang="en-US" sz="1400" u="none" cap="none" strike="noStrike">
                    <a:solidFill>
                      <a:srgbClr val="58889F"/>
                    </a:solidFill>
                    <a:latin typeface="Bodoni Moda"/>
                    <a:ea typeface="Bodoni Moda"/>
                    <a:cs typeface="Bodoni Moda"/>
                    <a:sym typeface="Bodoni Moda"/>
                  </a:rPr>
                  <a:t>Detectar</a:t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g6a31142b98fe4e42_94"/>
              <p:cNvSpPr/>
              <p:nvPr/>
            </p:nvSpPr>
            <p:spPr>
              <a:xfrm>
                <a:off x="7429500" y="2743200"/>
                <a:ext cx="1257300" cy="700200"/>
              </a:xfrm>
              <a:prstGeom prst="rect">
                <a:avLst/>
              </a:prstGeom>
              <a:solidFill>
                <a:srgbClr val="58889F">
                  <a:alpha val="941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g6a31142b98fe4e42_94"/>
              <p:cNvSpPr/>
              <p:nvPr/>
            </p:nvSpPr>
            <p:spPr>
              <a:xfrm>
                <a:off x="7572375" y="2886075"/>
                <a:ext cx="9717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8889F"/>
                  </a:buClr>
                  <a:buSzPts val="1800"/>
                  <a:buFont typeface="Bodoni Moda"/>
                  <a:buNone/>
                </a:pPr>
                <a:r>
                  <a:rPr b="0" i="0" lang="en-US" sz="1400" u="none" cap="none" strike="noStrike">
                    <a:solidFill>
                      <a:srgbClr val="58889F"/>
                    </a:solidFill>
                    <a:latin typeface="Bodoni Moda"/>
                    <a:ea typeface="Bodoni Moda"/>
                    <a:cs typeface="Bodoni Moda"/>
                    <a:sym typeface="Bodoni Moda"/>
                  </a:rPr>
                  <a:t>Responder</a:t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preencoded.png" id="149" name="Google Shape;149;g6a31142b98fe4e42_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86300" y="86085"/>
              <a:ext cx="4000500" cy="262199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5" name="Google Shape;155;g6a31142b98fe4e42_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6a31142b98fe4e42_112"/>
          <p:cNvSpPr/>
          <p:nvPr/>
        </p:nvSpPr>
        <p:spPr>
          <a:xfrm>
            <a:off x="457200" y="457200"/>
            <a:ext cx="82296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889F"/>
              </a:buClr>
              <a:buSzPts val="3375"/>
              <a:buFont typeface="Bodoni Moda"/>
              <a:buNone/>
            </a:pPr>
            <a:r>
              <a:rPr b="0" i="0" lang="en-US" sz="3375" u="none" cap="none" strike="noStrike">
                <a:solidFill>
                  <a:srgbClr val="58889F"/>
                </a:solidFill>
                <a:latin typeface="Bodoni Moda"/>
                <a:ea typeface="Bodoni Moda"/>
                <a:cs typeface="Bodoni Moda"/>
                <a:sym typeface="Bodoni Moda"/>
              </a:rPr>
              <a:t>EPP E EDR: FUNCIONAMENTO</a:t>
            </a:r>
            <a:endParaRPr b="0" i="0" sz="33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6a31142b98fe4e42_112"/>
          <p:cNvSpPr/>
          <p:nvPr/>
        </p:nvSpPr>
        <p:spPr>
          <a:xfrm>
            <a:off x="457200" y="1114425"/>
            <a:ext cx="4000500" cy="1871700"/>
          </a:xfrm>
          <a:prstGeom prst="rect">
            <a:avLst/>
          </a:prstGeom>
          <a:solidFill>
            <a:srgbClr val="58889F">
              <a:alpha val="941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6a31142b98fe4e42_112"/>
          <p:cNvSpPr/>
          <p:nvPr/>
        </p:nvSpPr>
        <p:spPr>
          <a:xfrm>
            <a:off x="600075" y="1257300"/>
            <a:ext cx="37149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889F"/>
              </a:buClr>
              <a:buSzPts val="2025"/>
              <a:buFont typeface="Bodoni Moda"/>
              <a:buNone/>
            </a:pPr>
            <a:r>
              <a:rPr b="0" i="0" lang="en-US" sz="2025" u="none" cap="none" strike="noStrike">
                <a:solidFill>
                  <a:srgbClr val="58889F"/>
                </a:solidFill>
                <a:latin typeface="Bodoni Moda"/>
                <a:ea typeface="Bodoni Moda"/>
                <a:cs typeface="Bodoni Moda"/>
                <a:sym typeface="Bodoni Moda"/>
              </a:rPr>
              <a:t>EPP (Prevenção)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9" name="Google Shape;159;g6a31142b98fe4e42_1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0075" y="179308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g6a31142b98fe4e42_112"/>
          <p:cNvSpPr/>
          <p:nvPr/>
        </p:nvSpPr>
        <p:spPr>
          <a:xfrm>
            <a:off x="878681" y="1750219"/>
            <a:ext cx="2693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B"/>
              </a:buClr>
              <a:buSzPts val="1350"/>
              <a:buFont typeface="Proxima Nova"/>
              <a:buNone/>
            </a:pPr>
            <a:r>
              <a:rPr b="0" i="0" lang="en-US" sz="1350" u="none" cap="none" strike="noStrike">
                <a:solidFill>
                  <a:srgbClr val="3A383B"/>
                </a:solidFill>
                <a:latin typeface="Proxima Nova"/>
                <a:ea typeface="Proxima Nova"/>
                <a:cs typeface="Proxima Nova"/>
                <a:sym typeface="Proxima Nova"/>
              </a:rPr>
              <a:t>NGAV (Antivírus de Nova Geração)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1" name="Google Shape;161;g6a31142b98fe4e42_1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0075" y="2157413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6a31142b98fe4e42_112"/>
          <p:cNvSpPr/>
          <p:nvPr/>
        </p:nvSpPr>
        <p:spPr>
          <a:xfrm>
            <a:off x="878681" y="2114550"/>
            <a:ext cx="16869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B"/>
              </a:buClr>
              <a:buSzPts val="1350"/>
              <a:buFont typeface="Proxima Nova"/>
              <a:buNone/>
            </a:pPr>
            <a:r>
              <a:rPr b="0" i="0" lang="en-US" sz="1350" u="none" cap="none" strike="noStrike">
                <a:solidFill>
                  <a:srgbClr val="3A383B"/>
                </a:solidFill>
                <a:latin typeface="Proxima Nova"/>
                <a:ea typeface="Proxima Nova"/>
                <a:cs typeface="Proxima Nova"/>
                <a:sym typeface="Proxima Nova"/>
              </a:rPr>
              <a:t>Prevenção de exploits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3" name="Google Shape;163;g6a31142b98fe4e42_1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0075" y="2521744"/>
            <a:ext cx="192881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g6a31142b98fe4e42_112"/>
          <p:cNvSpPr/>
          <p:nvPr/>
        </p:nvSpPr>
        <p:spPr>
          <a:xfrm>
            <a:off x="900113" y="2478881"/>
            <a:ext cx="1744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B"/>
              </a:buClr>
              <a:buSzPts val="1350"/>
              <a:buFont typeface="Proxima Nova"/>
              <a:buNone/>
            </a:pPr>
            <a:r>
              <a:rPr b="0" i="0" lang="en-US" sz="1350" u="none" cap="none" strike="noStrike">
                <a:solidFill>
                  <a:srgbClr val="3A383B"/>
                </a:solidFill>
                <a:latin typeface="Proxima Nova"/>
                <a:ea typeface="Proxima Nova"/>
                <a:cs typeface="Proxima Nova"/>
                <a:sym typeface="Proxima Nova"/>
              </a:rPr>
              <a:t>Controle de aplicações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6a31142b98fe4e42_112"/>
          <p:cNvSpPr/>
          <p:nvPr/>
        </p:nvSpPr>
        <p:spPr>
          <a:xfrm>
            <a:off x="4686300" y="1114425"/>
            <a:ext cx="4000500" cy="1871700"/>
          </a:xfrm>
          <a:prstGeom prst="rect">
            <a:avLst/>
          </a:prstGeom>
          <a:solidFill>
            <a:srgbClr val="58889F">
              <a:alpha val="941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6a31142b98fe4e42_112"/>
          <p:cNvSpPr/>
          <p:nvPr/>
        </p:nvSpPr>
        <p:spPr>
          <a:xfrm>
            <a:off x="4829175" y="1257300"/>
            <a:ext cx="37149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889F"/>
              </a:buClr>
              <a:buSzPts val="2025"/>
              <a:buFont typeface="Bodoni Moda"/>
              <a:buNone/>
            </a:pPr>
            <a:r>
              <a:rPr b="0" i="0" lang="en-US" sz="2025" u="none" cap="none" strike="noStrike">
                <a:solidFill>
                  <a:srgbClr val="58889F"/>
                </a:solidFill>
                <a:latin typeface="Bodoni Moda"/>
                <a:ea typeface="Bodoni Moda"/>
                <a:cs typeface="Bodoni Moda"/>
                <a:sym typeface="Bodoni Moda"/>
              </a:rPr>
              <a:t>EDR (Resposta)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7" name="Google Shape;167;g6a31142b98fe4e42_1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29175" y="179308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6a31142b98fe4e42_112"/>
          <p:cNvSpPr/>
          <p:nvPr/>
        </p:nvSpPr>
        <p:spPr>
          <a:xfrm>
            <a:off x="5107781" y="1750219"/>
            <a:ext cx="1286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B"/>
              </a:buClr>
              <a:buSzPts val="1350"/>
              <a:buFont typeface="Proxima Nova"/>
              <a:buNone/>
            </a:pPr>
            <a:r>
              <a:rPr b="0" i="0" lang="en-US" sz="1350" u="none" cap="none" strike="noStrike">
                <a:solidFill>
                  <a:srgbClr val="3A383B"/>
                </a:solidFill>
                <a:latin typeface="Proxima Nova"/>
                <a:ea typeface="Proxima Nova"/>
                <a:cs typeface="Proxima Nova"/>
                <a:sym typeface="Proxima Nova"/>
              </a:rPr>
              <a:t>Caça a ameaças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9" name="Google Shape;169;g6a31142b98fe4e42_1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29175" y="2157413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6a31142b98fe4e42_112"/>
          <p:cNvSpPr/>
          <p:nvPr/>
        </p:nvSpPr>
        <p:spPr>
          <a:xfrm>
            <a:off x="5107781" y="2114550"/>
            <a:ext cx="9627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B"/>
              </a:buClr>
              <a:buSzPts val="1350"/>
              <a:buFont typeface="Proxima Nova"/>
              <a:buNone/>
            </a:pPr>
            <a:r>
              <a:rPr b="0" i="0" lang="en-US" sz="1350" u="none" cap="none" strike="noStrike">
                <a:solidFill>
                  <a:srgbClr val="3A383B"/>
                </a:solidFill>
                <a:latin typeface="Proxima Nova"/>
                <a:ea typeface="Proxima Nova"/>
                <a:cs typeface="Proxima Nova"/>
                <a:sym typeface="Proxima Nova"/>
              </a:rPr>
              <a:t>Investigação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1" name="Google Shape;171;g6a31142b98fe4e42_1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29175" y="2521744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g6a31142b98fe4e42_112"/>
          <p:cNvSpPr/>
          <p:nvPr/>
        </p:nvSpPr>
        <p:spPr>
          <a:xfrm>
            <a:off x="5150644" y="2478881"/>
            <a:ext cx="18681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B"/>
              </a:buClr>
              <a:buSzPts val="1350"/>
              <a:buFont typeface="Proxima Nova"/>
              <a:buNone/>
            </a:pPr>
            <a:r>
              <a:rPr b="0" i="0" lang="en-US" sz="1350" u="none" cap="none" strike="noStrike">
                <a:solidFill>
                  <a:srgbClr val="3A383B"/>
                </a:solidFill>
                <a:latin typeface="Proxima Nova"/>
                <a:ea typeface="Proxima Nova"/>
                <a:cs typeface="Proxima Nova"/>
                <a:sym typeface="Proxima Nova"/>
              </a:rPr>
              <a:t>Isolamento de endpoints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6a31142b98fe4e42_112"/>
          <p:cNvSpPr/>
          <p:nvPr/>
        </p:nvSpPr>
        <p:spPr>
          <a:xfrm>
            <a:off x="600075" y="3128963"/>
            <a:ext cx="80868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B"/>
              </a:buClr>
              <a:buSzPts val="1350"/>
              <a:buFont typeface="Bodoni Moda"/>
              <a:buNone/>
            </a:pPr>
            <a:r>
              <a:rPr b="0" i="0" lang="en-US" sz="1350" u="none" cap="none" strike="noStrike">
                <a:solidFill>
                  <a:srgbClr val="3A383B"/>
                </a:solidFill>
                <a:latin typeface="Bodoni Moda"/>
                <a:ea typeface="Bodoni Moda"/>
                <a:cs typeface="Bodoni Moda"/>
                <a:sym typeface="Bodoni Moda"/>
              </a:rPr>
              <a:t>Exemplo Real: Crowd Strike Falcon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6a31142b98fe4e42_112"/>
          <p:cNvSpPr/>
          <p:nvPr/>
        </p:nvSpPr>
        <p:spPr>
          <a:xfrm>
            <a:off x="600075" y="3457575"/>
            <a:ext cx="8086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B"/>
              </a:buClr>
              <a:buSzPts val="1350"/>
              <a:buFont typeface="Proxima Nova"/>
              <a:buNone/>
            </a:pPr>
            <a:r>
              <a:rPr b="0" i="0" lang="en-US" sz="1350" u="none" cap="none" strike="noStrike">
                <a:solidFill>
                  <a:srgbClr val="3A383B"/>
                </a:solidFill>
                <a:latin typeface="Proxima Nova"/>
                <a:ea typeface="Proxima Nova"/>
                <a:cs typeface="Proxima Nova"/>
                <a:sym typeface="Proxima Nova"/>
              </a:rPr>
              <a:t>Plataforma unificada de segurança de endpoint e resposta, entregue como um serviço nativo em nuvem (SaaS). Combina NGAV, EDR, e gerenciamento inteligente de ameaças em um único agente leve.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0" name="Google Shape;18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9"/>
          <p:cNvSpPr/>
          <p:nvPr/>
        </p:nvSpPr>
        <p:spPr>
          <a:xfrm>
            <a:off x="1959375" y="356325"/>
            <a:ext cx="5225100" cy="4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889F"/>
              </a:buClr>
              <a:buSzPts val="2025"/>
              <a:buFont typeface="Noto Sans"/>
              <a:buNone/>
            </a:pPr>
            <a:r>
              <a:rPr b="0" i="0" lang="en-US" sz="2025" u="none" cap="none" strike="noStrike">
                <a:solidFill>
                  <a:srgbClr val="58889F"/>
                </a:solidFill>
                <a:latin typeface="Noto Sans"/>
                <a:ea typeface="Noto Sans"/>
                <a:cs typeface="Noto Sans"/>
                <a:sym typeface="Noto Sans"/>
              </a:rPr>
              <a:t>Proteção de Endpoint vs. Antivírus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2" name="Google Shape;182;p9"/>
          <p:cNvGrpSpPr/>
          <p:nvPr/>
        </p:nvGrpSpPr>
        <p:grpSpPr>
          <a:xfrm>
            <a:off x="457127" y="1047522"/>
            <a:ext cx="8229727" cy="2387271"/>
            <a:chOff x="457077" y="1600200"/>
            <a:chExt cx="8229727" cy="2278800"/>
          </a:xfrm>
        </p:grpSpPr>
        <p:sp>
          <p:nvSpPr>
            <p:cNvPr id="183" name="Google Shape;183;p9"/>
            <p:cNvSpPr/>
            <p:nvPr/>
          </p:nvSpPr>
          <p:spPr>
            <a:xfrm>
              <a:off x="457200" y="1600200"/>
              <a:ext cx="8229600" cy="227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9"/>
            <p:cNvSpPr/>
            <p:nvPr/>
          </p:nvSpPr>
          <p:spPr>
            <a:xfrm>
              <a:off x="457200" y="1600200"/>
              <a:ext cx="2057400" cy="450056"/>
            </a:xfrm>
            <a:prstGeom prst="rect">
              <a:avLst/>
            </a:prstGeom>
            <a:solidFill>
              <a:srgbClr val="5888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9"/>
            <p:cNvSpPr/>
            <p:nvPr/>
          </p:nvSpPr>
          <p:spPr>
            <a:xfrm>
              <a:off x="2514600" y="1600200"/>
              <a:ext cx="3086100" cy="450056"/>
            </a:xfrm>
            <a:prstGeom prst="rect">
              <a:avLst/>
            </a:prstGeom>
            <a:solidFill>
              <a:srgbClr val="5888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9"/>
            <p:cNvSpPr/>
            <p:nvPr/>
          </p:nvSpPr>
          <p:spPr>
            <a:xfrm>
              <a:off x="5600700" y="1600200"/>
              <a:ext cx="3086100" cy="450056"/>
            </a:xfrm>
            <a:prstGeom prst="rect">
              <a:avLst/>
            </a:prstGeom>
            <a:solidFill>
              <a:srgbClr val="5888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9"/>
            <p:cNvSpPr/>
            <p:nvPr/>
          </p:nvSpPr>
          <p:spPr>
            <a:xfrm>
              <a:off x="457200" y="1600200"/>
              <a:ext cx="2057400" cy="4500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7500" lIns="127500" spcFirstLastPara="1" rIns="127500" wrap="square" tIns="1275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8F8EF"/>
                </a:buClr>
                <a:buSzPts val="1238"/>
                <a:buFont typeface="Noto Sans"/>
                <a:buNone/>
              </a:pPr>
              <a:r>
                <a:rPr b="0" i="0" lang="en-US" sz="1238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Critério</a:t>
              </a:r>
              <a:endParaRPr b="0" i="0" sz="123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9"/>
            <p:cNvSpPr/>
            <p:nvPr/>
          </p:nvSpPr>
          <p:spPr>
            <a:xfrm>
              <a:off x="2514600" y="1600200"/>
              <a:ext cx="3086100" cy="4500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7500" lIns="127500" spcFirstLastPara="1" rIns="127500" wrap="square" tIns="1275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8F8EF"/>
                </a:buClr>
                <a:buSzPts val="1238"/>
                <a:buFont typeface="Noto Sans"/>
                <a:buNone/>
              </a:pPr>
              <a:r>
                <a:rPr b="0" i="0" lang="en-US" sz="1238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Antivírus (AV)</a:t>
              </a:r>
              <a:endParaRPr b="0" i="0" sz="123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9"/>
            <p:cNvSpPr/>
            <p:nvPr/>
          </p:nvSpPr>
          <p:spPr>
            <a:xfrm>
              <a:off x="5600700" y="1600200"/>
              <a:ext cx="3086100" cy="4500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7500" lIns="127500" spcFirstLastPara="1" rIns="127500" wrap="square" tIns="1275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8F8EF"/>
                </a:buClr>
                <a:buSzPts val="1238"/>
                <a:buFont typeface="Noto Sans"/>
                <a:buNone/>
              </a:pPr>
              <a:r>
                <a:rPr b="0" i="0" lang="en-US" sz="1238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Proteção de Endpoint (EPP/EDR)</a:t>
              </a:r>
              <a:endParaRPr b="0" i="0" sz="123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0" name="Google Shape;190;p9"/>
            <p:cNvGrpSpPr/>
            <p:nvPr/>
          </p:nvGrpSpPr>
          <p:grpSpPr>
            <a:xfrm>
              <a:off x="457200" y="2050250"/>
              <a:ext cx="8229600" cy="450000"/>
              <a:chOff x="457200" y="1600200"/>
              <a:chExt cx="8229600" cy="450000"/>
            </a:xfrm>
          </p:grpSpPr>
          <p:sp>
            <p:nvSpPr>
              <p:cNvPr id="191" name="Google Shape;191;p9"/>
              <p:cNvSpPr/>
              <p:nvPr/>
            </p:nvSpPr>
            <p:spPr>
              <a:xfrm>
                <a:off x="457200" y="1600200"/>
                <a:ext cx="2057400" cy="450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9"/>
              <p:cNvSpPr/>
              <p:nvPr/>
            </p:nvSpPr>
            <p:spPr>
              <a:xfrm>
                <a:off x="2514600" y="1600200"/>
                <a:ext cx="3086100" cy="450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9"/>
              <p:cNvSpPr/>
              <p:nvPr/>
            </p:nvSpPr>
            <p:spPr>
              <a:xfrm>
                <a:off x="5600700" y="1600200"/>
                <a:ext cx="3086100" cy="450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4" name="Google Shape;194;p9"/>
            <p:cNvGrpSpPr/>
            <p:nvPr/>
          </p:nvGrpSpPr>
          <p:grpSpPr>
            <a:xfrm>
              <a:off x="457204" y="2500294"/>
              <a:ext cx="8229600" cy="450000"/>
              <a:chOff x="457200" y="1600200"/>
              <a:chExt cx="8229600" cy="450000"/>
            </a:xfrm>
          </p:grpSpPr>
          <p:sp>
            <p:nvSpPr>
              <p:cNvPr id="195" name="Google Shape;195;p9"/>
              <p:cNvSpPr/>
              <p:nvPr/>
            </p:nvSpPr>
            <p:spPr>
              <a:xfrm>
                <a:off x="457200" y="1600200"/>
                <a:ext cx="2057400" cy="450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9"/>
              <p:cNvSpPr/>
              <p:nvPr/>
            </p:nvSpPr>
            <p:spPr>
              <a:xfrm>
                <a:off x="2514600" y="1600200"/>
                <a:ext cx="3086100" cy="450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9"/>
              <p:cNvSpPr/>
              <p:nvPr/>
            </p:nvSpPr>
            <p:spPr>
              <a:xfrm>
                <a:off x="5600700" y="1600200"/>
                <a:ext cx="3086100" cy="450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8" name="Google Shape;198;p9"/>
            <p:cNvGrpSpPr/>
            <p:nvPr/>
          </p:nvGrpSpPr>
          <p:grpSpPr>
            <a:xfrm>
              <a:off x="457200" y="2950300"/>
              <a:ext cx="8229600" cy="450000"/>
              <a:chOff x="457200" y="1600200"/>
              <a:chExt cx="8229600" cy="450000"/>
            </a:xfrm>
          </p:grpSpPr>
          <p:sp>
            <p:nvSpPr>
              <p:cNvPr id="199" name="Google Shape;199;p9"/>
              <p:cNvSpPr/>
              <p:nvPr/>
            </p:nvSpPr>
            <p:spPr>
              <a:xfrm>
                <a:off x="457200" y="1600200"/>
                <a:ext cx="2057400" cy="450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9"/>
              <p:cNvSpPr/>
              <p:nvPr/>
            </p:nvSpPr>
            <p:spPr>
              <a:xfrm>
                <a:off x="2514600" y="1600200"/>
                <a:ext cx="3086100" cy="450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9"/>
              <p:cNvSpPr/>
              <p:nvPr/>
            </p:nvSpPr>
            <p:spPr>
              <a:xfrm>
                <a:off x="5600700" y="1600200"/>
                <a:ext cx="3086100" cy="450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2" name="Google Shape;202;p9"/>
            <p:cNvGrpSpPr/>
            <p:nvPr/>
          </p:nvGrpSpPr>
          <p:grpSpPr>
            <a:xfrm>
              <a:off x="457195" y="3400350"/>
              <a:ext cx="8229600" cy="450000"/>
              <a:chOff x="457200" y="1600200"/>
              <a:chExt cx="8229600" cy="450000"/>
            </a:xfrm>
          </p:grpSpPr>
          <p:sp>
            <p:nvSpPr>
              <p:cNvPr id="203" name="Google Shape;203;p9"/>
              <p:cNvSpPr/>
              <p:nvPr/>
            </p:nvSpPr>
            <p:spPr>
              <a:xfrm>
                <a:off x="457200" y="1600200"/>
                <a:ext cx="2057400" cy="450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9"/>
              <p:cNvSpPr/>
              <p:nvPr/>
            </p:nvSpPr>
            <p:spPr>
              <a:xfrm>
                <a:off x="2514600" y="1600200"/>
                <a:ext cx="3086100" cy="450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9"/>
              <p:cNvSpPr/>
              <p:nvPr/>
            </p:nvSpPr>
            <p:spPr>
              <a:xfrm>
                <a:off x="5600700" y="1600200"/>
                <a:ext cx="3086100" cy="4500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6" name="Google Shape;206;p9"/>
            <p:cNvGrpSpPr/>
            <p:nvPr/>
          </p:nvGrpSpPr>
          <p:grpSpPr>
            <a:xfrm>
              <a:off x="457077" y="2050200"/>
              <a:ext cx="2057400" cy="1800000"/>
              <a:chOff x="3403784" y="413950"/>
              <a:chExt cx="2057400" cy="1800000"/>
            </a:xfrm>
          </p:grpSpPr>
          <p:sp>
            <p:nvSpPr>
              <p:cNvPr id="207" name="Google Shape;207;p9"/>
              <p:cNvSpPr/>
              <p:nvPr/>
            </p:nvSpPr>
            <p:spPr>
              <a:xfrm>
                <a:off x="3403784" y="413950"/>
                <a:ext cx="2057400" cy="450000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7500" lIns="127500" spcFirstLastPara="1" rIns="127500" wrap="square" tIns="1275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8F8EF"/>
                  </a:buClr>
                  <a:buSzPts val="1238"/>
                  <a:buFont typeface="Noto Sans"/>
                  <a:buNone/>
                </a:pPr>
                <a:r>
                  <a:rPr b="0" i="0" lang="en-US" sz="1238" u="none" cap="none" strike="noStrike">
                    <a:solidFill>
                      <a:srgbClr val="FFFFF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Foco</a:t>
                </a:r>
                <a:endParaRPr b="0" i="0" sz="1238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9"/>
              <p:cNvSpPr/>
              <p:nvPr/>
            </p:nvSpPr>
            <p:spPr>
              <a:xfrm>
                <a:off x="3403784" y="863950"/>
                <a:ext cx="2057400" cy="450000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7500" lIns="127500" spcFirstLastPara="1" rIns="127500" wrap="square" tIns="1275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8F8EF"/>
                  </a:buClr>
                  <a:buSzPts val="1238"/>
                  <a:buFont typeface="Noto Sans"/>
                  <a:buNone/>
                </a:pPr>
                <a:r>
                  <a:rPr b="0" i="0" lang="en-US" sz="1238" u="none" cap="none" strike="noStrike">
                    <a:solidFill>
                      <a:srgbClr val="FFFFF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Mecanismo </a:t>
                </a:r>
                <a:endParaRPr b="0" i="0" sz="1238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9"/>
              <p:cNvSpPr/>
              <p:nvPr/>
            </p:nvSpPr>
            <p:spPr>
              <a:xfrm>
                <a:off x="3403784" y="1313950"/>
                <a:ext cx="2057400" cy="450000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7500" lIns="127500" spcFirstLastPara="1" rIns="127500" wrap="square" tIns="1275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8F8EF"/>
                  </a:buClr>
                  <a:buSzPts val="1238"/>
                  <a:buFont typeface="Noto Sans"/>
                  <a:buNone/>
                </a:pPr>
                <a:r>
                  <a:rPr b="0" i="0" lang="en-US" sz="1238" u="none" cap="none" strike="noStrike">
                    <a:solidFill>
                      <a:srgbClr val="FFFFF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Alcance</a:t>
                </a:r>
                <a:endParaRPr b="0" i="0" sz="1238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9"/>
              <p:cNvSpPr/>
              <p:nvPr/>
            </p:nvSpPr>
            <p:spPr>
              <a:xfrm>
                <a:off x="3403784" y="1763950"/>
                <a:ext cx="2057400" cy="450000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7500" lIns="127500" spcFirstLastPara="1" rIns="127500" wrap="square" tIns="1275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8F8EF"/>
                  </a:buClr>
                  <a:buSzPts val="1238"/>
                  <a:buFont typeface="Noto Sans"/>
                  <a:buNone/>
                </a:pPr>
                <a:r>
                  <a:rPr b="0" i="0" lang="en-US" sz="1238" u="none" cap="none" strike="noStrike">
                    <a:solidFill>
                      <a:srgbClr val="FFFFF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Complexidade</a:t>
                </a:r>
                <a:r>
                  <a:rPr b="0" i="0" lang="en-US" sz="1238" u="none" cap="none" strike="noStrike">
                    <a:solidFill>
                      <a:srgbClr val="F8F8E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 </a:t>
                </a:r>
                <a:endParaRPr b="0" i="0" sz="1238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1" name="Google Shape;211;p9"/>
            <p:cNvGrpSpPr/>
            <p:nvPr/>
          </p:nvGrpSpPr>
          <p:grpSpPr>
            <a:xfrm>
              <a:off x="5600375" y="2050200"/>
              <a:ext cx="3086100" cy="1800000"/>
              <a:chOff x="3403784" y="413950"/>
              <a:chExt cx="2057400" cy="1800000"/>
            </a:xfrm>
          </p:grpSpPr>
          <p:sp>
            <p:nvSpPr>
              <p:cNvPr id="212" name="Google Shape;212;p9"/>
              <p:cNvSpPr/>
              <p:nvPr/>
            </p:nvSpPr>
            <p:spPr>
              <a:xfrm>
                <a:off x="3403784" y="413950"/>
                <a:ext cx="2057400" cy="450000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7500" lIns="127500" spcFirstLastPara="1" rIns="127500" wrap="square" tIns="1275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Prevenção, detecção e resposta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9"/>
              <p:cNvSpPr/>
              <p:nvPr/>
            </p:nvSpPr>
            <p:spPr>
              <a:xfrm>
                <a:off x="3403784" y="863950"/>
                <a:ext cx="2057400" cy="450000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7500" lIns="127500" spcFirstLastPara="1" rIns="127500" wrap="square" tIns="1275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Comportamento, IA, análise contínua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9"/>
              <p:cNvSpPr/>
              <p:nvPr/>
            </p:nvSpPr>
            <p:spPr>
              <a:xfrm>
                <a:off x="3403784" y="1313950"/>
                <a:ext cx="2057400" cy="450000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7500" lIns="127500" spcFirstLastPara="1" rIns="127500" wrap="square" tIns="1275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Malware, exploits, APTs, zero-day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9"/>
              <p:cNvSpPr/>
              <p:nvPr/>
            </p:nvSpPr>
            <p:spPr>
              <a:xfrm>
                <a:off x="3403784" y="1763950"/>
                <a:ext cx="2057400" cy="450000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7500" lIns="127500" spcFirstLastPara="1" rIns="127500" wrap="square" tIns="1275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Alta (ameaças avançadas)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6" name="Google Shape;216;p9"/>
            <p:cNvGrpSpPr/>
            <p:nvPr/>
          </p:nvGrpSpPr>
          <p:grpSpPr>
            <a:xfrm>
              <a:off x="2514450" y="2050200"/>
              <a:ext cx="3086100" cy="1800000"/>
              <a:chOff x="3403784" y="413950"/>
              <a:chExt cx="2057400" cy="1800000"/>
            </a:xfrm>
          </p:grpSpPr>
          <p:sp>
            <p:nvSpPr>
              <p:cNvPr id="217" name="Google Shape;217;p9"/>
              <p:cNvSpPr/>
              <p:nvPr/>
            </p:nvSpPr>
            <p:spPr>
              <a:xfrm>
                <a:off x="3403784" y="413950"/>
                <a:ext cx="2057400" cy="450000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7500" lIns="127500" spcFirstLastPara="1" rIns="127500" wrap="square" tIns="1275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8F8EF"/>
                  </a:buClr>
                  <a:buSzPts val="1238"/>
                  <a:buFont typeface="Noto Sans"/>
                  <a:buNone/>
                </a:pPr>
                <a:r>
                  <a:rPr b="0" i="0" lang="en-US" sz="1238" u="none" cap="none" strike="noStrike">
                    <a:solidFill>
                      <a:srgbClr val="FFFFF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Ameaças conhecidas</a:t>
                </a:r>
                <a:endParaRPr b="0" i="0" sz="1238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9"/>
              <p:cNvSpPr/>
              <p:nvPr/>
            </p:nvSpPr>
            <p:spPr>
              <a:xfrm>
                <a:off x="3403784" y="863950"/>
                <a:ext cx="2057400" cy="450000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7500" lIns="127500" spcFirstLastPara="1" rIns="127500" wrap="square" tIns="1275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Assinaturas, heurística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9"/>
              <p:cNvSpPr/>
              <p:nvPr/>
            </p:nvSpPr>
            <p:spPr>
              <a:xfrm>
                <a:off x="3403784" y="1313950"/>
                <a:ext cx="2057400" cy="450000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7500" lIns="127500" spcFirstLastPara="1" rIns="127500" wrap="square" tIns="1275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Malware comum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9"/>
              <p:cNvSpPr/>
              <p:nvPr/>
            </p:nvSpPr>
            <p:spPr>
              <a:xfrm>
                <a:off x="3403784" y="1763950"/>
                <a:ext cx="2057400" cy="450000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7500" lIns="127500" spcFirstLastPara="1" rIns="127500" wrap="square" tIns="1275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Baixa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21" name="Google Shape;221;p9"/>
          <p:cNvGrpSpPr/>
          <p:nvPr/>
        </p:nvGrpSpPr>
        <p:grpSpPr>
          <a:xfrm>
            <a:off x="457075" y="3784913"/>
            <a:ext cx="8229679" cy="976383"/>
            <a:chOff x="457174" y="4450550"/>
            <a:chExt cx="8229679" cy="921725"/>
          </a:xfrm>
        </p:grpSpPr>
        <p:sp>
          <p:nvSpPr>
            <p:cNvPr id="222" name="Google Shape;222;p9"/>
            <p:cNvSpPr/>
            <p:nvPr/>
          </p:nvSpPr>
          <p:spPr>
            <a:xfrm>
              <a:off x="457200" y="4450550"/>
              <a:ext cx="8229600" cy="921600"/>
            </a:xfrm>
            <a:prstGeom prst="rect">
              <a:avLst/>
            </a:prstGeom>
            <a:solidFill>
              <a:srgbClr val="58889F">
                <a:alpha val="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3" name="Google Shape;223;p9"/>
            <p:cNvGrpSpPr/>
            <p:nvPr/>
          </p:nvGrpSpPr>
          <p:grpSpPr>
            <a:xfrm>
              <a:off x="457174" y="4450575"/>
              <a:ext cx="8229679" cy="921700"/>
              <a:chOff x="457192" y="4450555"/>
              <a:chExt cx="9196200" cy="921700"/>
            </a:xfrm>
          </p:grpSpPr>
          <p:sp>
            <p:nvSpPr>
              <p:cNvPr id="224" name="Google Shape;224;p9"/>
              <p:cNvSpPr/>
              <p:nvPr/>
            </p:nvSpPr>
            <p:spPr>
              <a:xfrm>
                <a:off x="457192" y="4450555"/>
                <a:ext cx="91962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A383B"/>
                  </a:buClr>
                  <a:buSzPts val="1575"/>
                  <a:buFont typeface="Bodoni Moda"/>
                  <a:buNone/>
                </a:pPr>
                <a:r>
                  <a:rPr b="0" i="0" lang="en-US" sz="1575" u="none" cap="none" strike="noStrike">
                    <a:solidFill>
                      <a:srgbClr val="3A383B"/>
                    </a:solidFill>
                    <a:latin typeface="Bodoni Moda"/>
                    <a:ea typeface="Bodoni Moda"/>
                    <a:cs typeface="Bodoni Moda"/>
                    <a:sym typeface="Bodoni Moda"/>
                  </a:rPr>
                  <a:t>Exemplo Real: Microsoft Defender Antivirus</a:t>
                </a:r>
                <a:endParaRPr b="0" i="0" sz="1575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" name="Google Shape;225;p9"/>
              <p:cNvSpPr/>
              <p:nvPr/>
            </p:nvSpPr>
            <p:spPr>
              <a:xfrm>
                <a:off x="457192" y="4857755"/>
                <a:ext cx="9196200" cy="5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just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A383B"/>
                  </a:buClr>
                  <a:buSzPts val="1350"/>
                  <a:buFont typeface="Proxima Nova"/>
                  <a:buNone/>
                </a:pPr>
                <a:r>
                  <a:rPr b="0" i="0" lang="en-US" sz="1350" u="none" cap="none" strike="noStrike">
                    <a:solidFill>
                      <a:srgbClr val="3A383B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Integrado ao Windows, combina assinaturas e heurística com proteção baseada em nuvem para identificar ameaças em tempo real, oferecendo proteção abrangente para usuários domésticos e empresariais.</a:t>
                </a:r>
                <a:endParaRPr b="0" i="0" sz="13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1" name="Google Shape;231;g381a17398f7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g381a17398f7_0_0"/>
          <p:cNvSpPr txBox="1"/>
          <p:nvPr/>
        </p:nvSpPr>
        <p:spPr>
          <a:xfrm>
            <a:off x="943950" y="326400"/>
            <a:ext cx="7256100" cy="704100"/>
          </a:xfrm>
          <a:prstGeom prst="rect">
            <a:avLst/>
          </a:prstGeom>
          <a:solidFill>
            <a:srgbClr val="F8F8EF">
              <a:alpha val="2941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889F"/>
              </a:buClr>
              <a:buSzPts val="3375"/>
              <a:buFont typeface="Bodoni Moda"/>
              <a:buNone/>
            </a:pPr>
            <a:r>
              <a:rPr b="0" i="0" lang="en-US" sz="3375" u="none" cap="none" strike="noStrike">
                <a:solidFill>
                  <a:srgbClr val="58889F"/>
                </a:solidFill>
                <a:latin typeface="Bodoni Moda"/>
                <a:ea typeface="Bodoni Moda"/>
                <a:cs typeface="Bodoni Moda"/>
                <a:sym typeface="Bodoni Moda"/>
              </a:rPr>
              <a:t>NGAV(Next-Generation Antivirus)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3" name="Google Shape;233;g381a17398f7_0_0"/>
          <p:cNvGrpSpPr/>
          <p:nvPr/>
        </p:nvGrpSpPr>
        <p:grpSpPr>
          <a:xfrm>
            <a:off x="943872" y="1030581"/>
            <a:ext cx="3075005" cy="3152522"/>
            <a:chOff x="943900" y="1030475"/>
            <a:chExt cx="3240600" cy="3370239"/>
          </a:xfrm>
        </p:grpSpPr>
        <p:sp>
          <p:nvSpPr>
            <p:cNvPr id="234" name="Google Shape;234;g381a17398f7_0_0"/>
            <p:cNvSpPr/>
            <p:nvPr/>
          </p:nvSpPr>
          <p:spPr>
            <a:xfrm>
              <a:off x="943900" y="1030475"/>
              <a:ext cx="3240600" cy="3370200"/>
            </a:xfrm>
            <a:prstGeom prst="rect">
              <a:avLst/>
            </a:prstGeom>
            <a:solidFill>
              <a:srgbClr val="58889F">
                <a:alpha val="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g381a17398f7_0_0"/>
            <p:cNvSpPr txBox="1"/>
            <p:nvPr/>
          </p:nvSpPr>
          <p:spPr>
            <a:xfrm>
              <a:off x="943900" y="1030514"/>
              <a:ext cx="3240600" cy="337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3175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Bodoni Moda"/>
                <a:buChar char="●"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Bodoni Moda"/>
                  <a:ea typeface="Bodoni Moda"/>
                  <a:cs typeface="Bodoni Moda"/>
                  <a:sym typeface="Bodoni Moda"/>
                </a:rPr>
                <a:t>Mais que um antivírus, uma defesa inteligente.</a:t>
              </a:r>
              <a:br>
                <a:rPr b="0" i="0" lang="en-US" sz="1400" u="none" cap="none" strike="noStrike">
                  <a:solidFill>
                    <a:schemeClr val="dk1"/>
                  </a:solidFill>
                  <a:latin typeface="Bodoni Moda"/>
                  <a:ea typeface="Bodoni Moda"/>
                  <a:cs typeface="Bodoni Moda"/>
                  <a:sym typeface="Bodoni Moda"/>
                </a:rPr>
              </a:br>
              <a:endParaRPr b="0" i="0" sz="1400" u="none" cap="none" strike="noStrike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endParaRPr>
            </a:p>
            <a:p>
              <a:pPr indent="-3175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Bodoni Moda"/>
                <a:buChar char="●"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Bodoni Moda"/>
                  <a:ea typeface="Bodoni Moda"/>
                  <a:cs typeface="Bodoni Moda"/>
                  <a:sym typeface="Bodoni Moda"/>
                </a:rPr>
                <a:t>Proteção baseada em comportamento, não em assinaturas.</a:t>
              </a:r>
              <a:br>
                <a:rPr b="0" i="0" lang="en-US" sz="1400" u="none" cap="none" strike="noStrike">
                  <a:solidFill>
                    <a:schemeClr val="dk1"/>
                  </a:solidFill>
                  <a:latin typeface="Bodoni Moda"/>
                  <a:ea typeface="Bodoni Moda"/>
                  <a:cs typeface="Bodoni Moda"/>
                  <a:sym typeface="Bodoni Moda"/>
                </a:rPr>
              </a:br>
              <a:endParaRPr b="0" i="0" sz="1400" u="none" cap="none" strike="noStrike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endParaRPr>
            </a:p>
            <a:p>
              <a:pPr indent="-3175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Bodoni Moda"/>
                <a:buChar char="●"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Bodoni Moda"/>
                  <a:ea typeface="Bodoni Moda"/>
                  <a:cs typeface="Bodoni Moda"/>
                  <a:sym typeface="Bodoni Moda"/>
                </a:rPr>
                <a:t>Identifica ameaças novas e desconhecidas em tempo real.</a:t>
              </a:r>
              <a:br>
                <a:rPr b="0" i="0" lang="en-US" sz="1400" u="none" cap="none" strike="noStrike">
                  <a:solidFill>
                    <a:schemeClr val="dk1"/>
                  </a:solidFill>
                  <a:latin typeface="Bodoni Moda"/>
                  <a:ea typeface="Bodoni Moda"/>
                  <a:cs typeface="Bodoni Moda"/>
                  <a:sym typeface="Bodoni Moda"/>
                </a:rPr>
              </a:br>
              <a:endParaRPr b="0" i="0" sz="1400" u="none" cap="none" strike="noStrike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endParaRPr>
            </a:p>
            <a:p>
              <a:pPr indent="-3175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Bodoni Moda"/>
                <a:buChar char="●"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Bodoni Moda"/>
                  <a:ea typeface="Bodoni Moda"/>
                  <a:cs typeface="Bodoni Moda"/>
                  <a:sym typeface="Bodoni Moda"/>
                </a:rPr>
                <a:t>Integração com EPP e EDR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36" name="Google Shape;236;g381a17398f7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47574" y="1030500"/>
            <a:ext cx="3152550" cy="315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2" name="Google Shape;24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0"/>
          <p:cNvSpPr/>
          <p:nvPr/>
        </p:nvSpPr>
        <p:spPr>
          <a:xfrm>
            <a:off x="457200" y="457200"/>
            <a:ext cx="82296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889F"/>
              </a:buClr>
              <a:buSzPts val="5625"/>
              <a:buFont typeface="Bodoni Moda"/>
              <a:buNone/>
            </a:pPr>
            <a:r>
              <a:rPr b="0" i="0" lang="en-US" sz="5625" u="none" cap="none" strike="noStrike">
                <a:solidFill>
                  <a:srgbClr val="58889F"/>
                </a:solidFill>
                <a:latin typeface="Bodoni Moda"/>
                <a:ea typeface="Bodoni Moda"/>
                <a:cs typeface="Bodoni Moda"/>
                <a:sym typeface="Bodoni Moda"/>
              </a:rPr>
              <a:t>DEFESA EM CAMADAS</a:t>
            </a:r>
            <a:endParaRPr b="0" i="0" sz="56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457200" y="1343025"/>
            <a:ext cx="82296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B"/>
              </a:buClr>
              <a:buSzPts val="1350"/>
              <a:buFont typeface="Proxima Nova"/>
              <a:buNone/>
            </a:pPr>
            <a:r>
              <a:rPr b="0" i="0" lang="en-US" sz="1350" u="none" cap="none" strike="noStrike">
                <a:solidFill>
                  <a:srgbClr val="3A383B"/>
                </a:solidFill>
                <a:latin typeface="Proxima Nova"/>
                <a:ea typeface="Proxima Nova"/>
                <a:cs typeface="Proxima Nova"/>
                <a:sym typeface="Proxima Nova"/>
              </a:rPr>
              <a:t>A segurança da informação eficaz depende de múltiplas camadas de proteção trabalhando em conjunto. Nenhuma solução isolada é suficiente para proteger completamente os ambientes digitais modernos.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5" name="Google Shape;24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1599" y="2230636"/>
            <a:ext cx="300038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0"/>
          <p:cNvSpPr/>
          <p:nvPr/>
        </p:nvSpPr>
        <p:spPr>
          <a:xfrm>
            <a:off x="457200" y="2764631"/>
            <a:ext cx="2468863" cy="300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889F"/>
              </a:buClr>
              <a:buSzPts val="1575"/>
              <a:buFont typeface="Bodoni Moda"/>
              <a:buNone/>
            </a:pPr>
            <a:r>
              <a:rPr b="0" i="0" lang="en-US" sz="1575" u="none" cap="none" strike="noStrike">
                <a:solidFill>
                  <a:srgbClr val="58889F"/>
                </a:solidFill>
                <a:latin typeface="Bodoni Moda"/>
                <a:ea typeface="Bodoni Moda"/>
                <a:cs typeface="Bodoni Moda"/>
                <a:sym typeface="Bodoni Moda"/>
              </a:rPr>
              <a:t>Backup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457200" y="3136106"/>
            <a:ext cx="2468863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B"/>
              </a:buClr>
              <a:buSzPts val="1046"/>
              <a:buFont typeface="Proxima Nova"/>
              <a:buNone/>
            </a:pPr>
            <a:r>
              <a:rPr b="0" i="0" lang="en-US" sz="1046" u="none" cap="none" strike="noStrike">
                <a:solidFill>
                  <a:srgbClr val="3A383B"/>
                </a:solidFill>
                <a:latin typeface="Proxima Nova"/>
                <a:ea typeface="Proxima Nova"/>
                <a:cs typeface="Proxima Nova"/>
                <a:sym typeface="Proxima Nova"/>
              </a:rPr>
              <a:t>Resiliência e recuperação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8" name="Google Shape;24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7660" y="2230636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0"/>
          <p:cNvSpPr/>
          <p:nvPr/>
        </p:nvSpPr>
        <p:spPr>
          <a:xfrm>
            <a:off x="3337554" y="2764631"/>
            <a:ext cx="2468863" cy="300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889F"/>
              </a:buClr>
              <a:buSzPts val="1575"/>
              <a:buFont typeface="Bodoni Moda"/>
              <a:buNone/>
            </a:pPr>
            <a:r>
              <a:rPr b="0" i="0" lang="en-US" sz="1575" u="none" cap="none" strike="noStrike">
                <a:solidFill>
                  <a:srgbClr val="58889F"/>
                </a:solidFill>
                <a:latin typeface="Bodoni Moda"/>
                <a:ea typeface="Bodoni Moda"/>
                <a:cs typeface="Bodoni Moda"/>
                <a:sym typeface="Bodoni Moda"/>
              </a:rPr>
              <a:t>Endpoint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3337554" y="3136106"/>
            <a:ext cx="2468863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B"/>
              </a:buClr>
              <a:buSzPts val="1046"/>
              <a:buFont typeface="Proxima Nova"/>
              <a:buNone/>
            </a:pPr>
            <a:r>
              <a:rPr b="0" i="0" lang="en-US" sz="1046" u="none" cap="none" strike="noStrike">
                <a:solidFill>
                  <a:srgbClr val="3A383B"/>
                </a:solidFill>
                <a:latin typeface="Proxima Nova"/>
                <a:ea typeface="Proxima Nova"/>
                <a:cs typeface="Proxima Nova"/>
                <a:sym typeface="Proxima Nova"/>
              </a:rPr>
              <a:t>Contenção em tempo real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1" name="Google Shape;251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80877" y="2230636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0"/>
          <p:cNvSpPr/>
          <p:nvPr/>
        </p:nvSpPr>
        <p:spPr>
          <a:xfrm>
            <a:off x="6217909" y="2764631"/>
            <a:ext cx="2468863" cy="300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889F"/>
              </a:buClr>
              <a:buSzPts val="1575"/>
              <a:buFont typeface="Bodoni Moda"/>
              <a:buNone/>
            </a:pPr>
            <a:r>
              <a:rPr b="0" i="0" lang="en-US" sz="1575" u="none" cap="none" strike="noStrike">
                <a:solidFill>
                  <a:srgbClr val="58889F"/>
                </a:solidFill>
                <a:latin typeface="Bodoni Moda"/>
                <a:ea typeface="Bodoni Moda"/>
                <a:cs typeface="Bodoni Moda"/>
                <a:sym typeface="Bodoni Moda"/>
              </a:rPr>
              <a:t>Antivírus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6217909" y="3136106"/>
            <a:ext cx="2468863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B"/>
              </a:buClr>
              <a:buSzPts val="1046"/>
              <a:buFont typeface="Proxima Nova"/>
              <a:buNone/>
            </a:pPr>
            <a:r>
              <a:rPr b="0" i="0" lang="en-US" sz="1046" u="none" cap="none" strike="noStrike">
                <a:solidFill>
                  <a:srgbClr val="3A383B"/>
                </a:solidFill>
                <a:latin typeface="Proxima Nova"/>
                <a:ea typeface="Proxima Nova"/>
                <a:cs typeface="Proxima Nova"/>
                <a:sym typeface="Proxima Nova"/>
              </a:rPr>
              <a:t>Base da defesa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728663" y="3636169"/>
            <a:ext cx="7958138" cy="548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B"/>
              </a:buClr>
              <a:buSzPts val="1800"/>
              <a:buFont typeface="Bodoni Moda"/>
              <a:buNone/>
            </a:pPr>
            <a:r>
              <a:rPr b="0" i="1" lang="en-US" sz="1800" u="none" cap="none" strike="noStrike">
                <a:solidFill>
                  <a:srgbClr val="3A383B"/>
                </a:solidFill>
                <a:latin typeface="Bodoni Moda"/>
                <a:ea typeface="Bodoni Moda"/>
                <a:cs typeface="Bodoni Moda"/>
                <a:sym typeface="Bodoni Moda"/>
              </a:rPr>
              <a:t>"Nunca confiem em uma única ferramenta. Previnam, detectem, respondam e estejam preparados para se recuperar."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5" name="Google Shape;255;p10"/>
          <p:cNvPicPr preferRelativeResize="0"/>
          <p:nvPr/>
        </p:nvPicPr>
        <p:blipFill rotWithShape="1">
          <a:blip r:embed="rId7">
            <a:alphaModFix/>
          </a:blip>
          <a:srcRect b="34261" l="0" r="25126" t="0"/>
          <a:stretch/>
        </p:blipFill>
        <p:spPr>
          <a:xfrm>
            <a:off x="7015125" y="3772825"/>
            <a:ext cx="2128875" cy="137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1" name="Google Shape;261;g778908b853e21f4d_0"/>
          <p:cNvPicPr preferRelativeResize="0"/>
          <p:nvPr/>
        </p:nvPicPr>
        <p:blipFill rotWithShape="1">
          <a:blip r:embed="rId3">
            <a:alphaModFix/>
          </a:blip>
          <a:srcRect b="42568" l="0" r="25126" t="0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2" name="Google Shape;262;g778908b853e21f4d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g778908b853e21f4d_0"/>
          <p:cNvSpPr/>
          <p:nvPr/>
        </p:nvSpPr>
        <p:spPr>
          <a:xfrm>
            <a:off x="457200" y="1114425"/>
            <a:ext cx="5664900" cy="2831700"/>
          </a:xfrm>
          <a:prstGeom prst="rect">
            <a:avLst/>
          </a:prstGeom>
          <a:solidFill>
            <a:srgbClr val="58889F">
              <a:alpha val="941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778908b853e21f4d_0"/>
          <p:cNvSpPr txBox="1"/>
          <p:nvPr/>
        </p:nvSpPr>
        <p:spPr>
          <a:xfrm>
            <a:off x="0" y="2048677"/>
            <a:ext cx="39579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778908b853e21f4d_0"/>
          <p:cNvSpPr txBox="1"/>
          <p:nvPr/>
        </p:nvSpPr>
        <p:spPr>
          <a:xfrm>
            <a:off x="457209" y="1766407"/>
            <a:ext cx="5664900" cy="2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1. SOBRE A PLATAFORMA CROWDSTRIKE FALCON</a:t>
            </a:r>
            <a:endParaRPr b="0" i="0" sz="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CROWDSTRIKE. **CrowdStrike Falcon Platform Overview**. [S. l.], 2023. Disponível em: &lt;https://www.crowdstrike.com/endpoint-security-products/falcon-platform/overview/&gt;. Acesso em: 23 out. 2023.</a:t>
            </a:r>
            <a:endParaRPr b="0" i="0" sz="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2. SOBRE A PLATAFORMA VEEAM</a:t>
            </a:r>
            <a:endParaRPr b="0" i="0" sz="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VEEAM. **Veeam Backup &amp; Replication: Modern Data Protection**. [S. l.], 2023. Disponível em: &lt;https://www.veeam.com/backup-replication-solution.html&gt;. Acesso em: 23 out. 2023.</a:t>
            </a:r>
            <a:endParaRPr b="0" i="0" sz="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3. SOBRE O MICROSOFT DEFENDER</a:t>
            </a:r>
            <a:endParaRPr b="0" i="0" sz="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MICROSOFT. **Microsoft Defender for Endpoint**. [S. l.], 2023. Disponível em: &lt;https://www.microsoft.com/en-us/security/business/endpoint-security/microsoft-defender-endpoint&gt;. Acesso em: 23 out. 2023.</a:t>
            </a:r>
            <a:endParaRPr b="0" i="0" sz="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66" name="Google Shape;266;g778908b853e21f4d_0"/>
          <p:cNvSpPr txBox="1"/>
          <p:nvPr/>
        </p:nvSpPr>
        <p:spPr>
          <a:xfrm>
            <a:off x="573639" y="1216198"/>
            <a:ext cx="31299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Referências: </a:t>
            </a:r>
            <a:endParaRPr b="0" i="0" sz="2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2025-09-18T01:38:20Z</dcterms:created>
  <dc:creator>PptxGenJS</dc:creator>
</cp:coreProperties>
</file>